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5" r:id="rId2"/>
    <p:sldId id="266" r:id="rId3"/>
    <p:sldId id="257" r:id="rId4"/>
    <p:sldId id="267" r:id="rId5"/>
    <p:sldId id="268" r:id="rId6"/>
    <p:sldId id="269" r:id="rId7"/>
    <p:sldId id="270" r:id="rId8"/>
    <p:sldId id="258" r:id="rId9"/>
    <p:sldId id="260" r:id="rId10"/>
    <p:sldId id="261" r:id="rId11"/>
    <p:sldId id="262" r:id="rId12"/>
    <p:sldId id="263" r:id="rId1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7" autoAdjust="0"/>
    <p:restoredTop sz="94660"/>
  </p:normalViewPr>
  <p:slideViewPr>
    <p:cSldViewPr snapToGrid="0">
      <p:cViewPr varScale="1">
        <p:scale>
          <a:sx n="86" d="100"/>
          <a:sy n="86" d="100"/>
        </p:scale>
        <p:origin x="315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E584BE7-E700-425B-B482-0521E0E643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41A433C-7B3D-44A3-86F1-A61C088376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E38A2E7-35BA-4200-827E-1FC47D74F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3DFB27-A473-4C82-9157-45B838AE13E7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D90EA19-CD38-41D6-B313-CEAD4A17BB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1785F0B-5674-41C7-B890-F41D05C0D9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33F0CC-3894-4491-B857-8D6535416C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264900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9F4EA03-2CD1-4EF9-905E-E7401045A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D056886-5328-4B9E-A1A2-8D01042D47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C2F7EEA-D7FC-435E-902B-5415470206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3DFB27-A473-4C82-9157-45B838AE13E7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C484B5D-9C65-4A2B-A40C-8FF064F57B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A241E1F-F0BF-4602-BDE6-5D90AC5C7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33F0CC-3894-4491-B857-8D6535416C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785191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BFCB4C7-3394-4B23-933D-AC5570588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E46B2CE-31D4-4294-847C-F8F6C22038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8F0B1EE-CE8E-4DDC-829B-EFA9DF1B25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3DFB27-A473-4C82-9157-45B838AE13E7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68E3FDB-CF42-465F-A490-47ED98570D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412EC8B-5B4D-472E-9D64-23A2E36E3C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33F0CC-3894-4491-B857-8D6535416C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499587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90DE98A-598A-448C-878E-373BABE2E0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B8E5311-607D-4951-BBA8-7C59D651E0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90EB79B0-C8FA-4B7F-AA13-9C1F2A69CE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2A226EF-9280-47F5-81AA-CF15FEF943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3DFB27-A473-4C82-9157-45B838AE13E7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BFFDF05-9F2F-4758-9CFD-B86607BC55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EDB31E6-50FB-4E45-869A-0B1083DB2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33F0CC-3894-4491-B857-8D6535416C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040409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6B794E2-662F-42E4-964B-A18F37602B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A99835C-B3BF-4EC9-BDD2-65084285A3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810DF07-CB01-4E54-BACE-7F8D9EC314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BA8C5D5-AC2B-405A-86D3-F35A6ECF4C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F14D55F4-7924-49EE-9509-2A03AB6A764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1B81D9C-7076-47D5-8A4E-9EC713DC08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3DFB27-A473-4C82-9157-45B838AE13E7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193B2C06-87C7-4DD7-A33B-ABCC53187D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DD581FE-1DFB-447D-92C8-1BB976D6AF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33F0CC-3894-4491-B857-8D6535416C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13202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40399DA-7A75-4DBD-8BCD-4D78EE150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0B4F2469-9074-4D85-903E-F74915616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3DFB27-A473-4C82-9157-45B838AE13E7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C6E96C4-E0CA-4E83-868F-00460A0F58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0CCF004-D557-47E9-9A89-030AFDC68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33F0CC-3894-4491-B857-8D6535416C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406209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BA2EC5CE-1394-4E5F-96FE-FBB28A108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3DFB27-A473-4C82-9157-45B838AE13E7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0BFBE42-0B40-41C8-9790-4BEC74EE06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A8B1B3D-D402-487B-9B7A-B13176846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33F0CC-3894-4491-B857-8D6535416C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86814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7A51E6-6727-4493-85D8-36CF3A1A3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80E0693-E313-4541-9EF8-63B9B35023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E40A012-93E5-46E0-BF98-08B9C4993C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6B4F8D2-1141-4CEE-BBF3-FF9004D245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3DFB27-A473-4C82-9157-45B838AE13E7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D3AB5FB-45F8-4C40-AAF5-2A446BA9C6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46722A0-934E-410B-967E-10ACB14F4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33F0CC-3894-4491-B857-8D6535416C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458339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325BD0-CE2A-430C-8A39-CF61F07C9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72255FEA-302F-43C4-B79B-0C6B18AE2B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66F8F0A-6BA5-44E7-88C5-AF08404D85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418C806-B0F5-43FF-A5DB-D43347F8FA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3DFB27-A473-4C82-9157-45B838AE13E7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05AF035-E0D1-4EFD-87A7-B8837E4E4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A830F83-EC13-4759-8D11-DEAC194446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33F0CC-3894-4491-B857-8D6535416C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289763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E886BB0-6A59-4E8E-9AA3-3A8FBF9CA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6D15106-6A03-463E-A9CA-E124215222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60D8E1B-2085-4EE6-B7A7-B58021A8AD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3DFB27-A473-4C82-9157-45B838AE13E7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294DF37-5280-4299-9DC2-0EAAD537B5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5787E3B-B496-4EC4-9F7B-EDD0D5C6E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33F0CC-3894-4491-B857-8D6535416C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156976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005BDB68-D9B3-44D2-8A46-4E6112A96D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72369CE-0BD0-4ECE-BB28-BA830A2467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BAB1618-613A-4F40-8DC9-7D0DC4A048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3DFB27-A473-4C82-9157-45B838AE13E7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B5D7767-C836-4241-BDC3-CBF3036648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2A4CF2D-2896-413D-BA5F-62261FABE7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33F0CC-3894-4491-B857-8D6535416C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86463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8DAA168-2654-4BB2-9AB0-EAE85B8F5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588B6FA-609C-4FE2-96BB-478FA3FB5B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93A36A6-E5D4-474B-9D6D-4161CDBC91D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3DFB27-A473-4C82-9157-45B838AE13E7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7772EBD-6DD3-4DEE-AF2C-6139A1A628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F61B3DF-06BE-4968-AC9E-618F77E3F6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33F0CC-3894-4491-B857-8D6535416C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997843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png"/><Relationship Id="rId18" Type="http://schemas.openxmlformats.org/officeDocument/2006/relationships/image" Target="../media/image2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17" Type="http://schemas.openxmlformats.org/officeDocument/2006/relationships/image" Target="../media/image21.png"/><Relationship Id="rId2" Type="http://schemas.openxmlformats.org/officeDocument/2006/relationships/image" Target="../media/image4.png"/><Relationship Id="rId16" Type="http://schemas.openxmlformats.org/officeDocument/2006/relationships/image" Target="../media/image2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5" Type="http://schemas.openxmlformats.org/officeDocument/2006/relationships/image" Target="../media/image19.png"/><Relationship Id="rId10" Type="http://schemas.openxmlformats.org/officeDocument/2006/relationships/image" Target="../media/image14.png"/><Relationship Id="rId19" Type="http://schemas.openxmlformats.org/officeDocument/2006/relationships/image" Target="../media/image23.png"/><Relationship Id="rId4" Type="http://schemas.openxmlformats.org/officeDocument/2006/relationships/image" Target="../media/image8.png"/><Relationship Id="rId9" Type="http://schemas.openxmlformats.org/officeDocument/2006/relationships/image" Target="../media/image13.png"/><Relationship Id="rId14" Type="http://schemas.openxmlformats.org/officeDocument/2006/relationships/image" Target="../media/image1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4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12" Type="http://schemas.openxmlformats.org/officeDocument/2006/relationships/image" Target="../media/image33.png"/><Relationship Id="rId2" Type="http://schemas.openxmlformats.org/officeDocument/2006/relationships/image" Target="../media/image4.png"/><Relationship Id="rId16" Type="http://schemas.openxmlformats.org/officeDocument/2006/relationships/image" Target="../media/image3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5" Type="http://schemas.openxmlformats.org/officeDocument/2006/relationships/image" Target="../media/image26.png"/><Relationship Id="rId15" Type="http://schemas.openxmlformats.org/officeDocument/2006/relationships/image" Target="../media/image36.pn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Relationship Id="rId14" Type="http://schemas.openxmlformats.org/officeDocument/2006/relationships/image" Target="../media/image3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67407154-B6A2-42EB-890E-AC89B3A429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0EE01B82-90A7-4878-8F8D-31804212C9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0"/>
            <a:ext cx="12191999" cy="1087821"/>
          </a:xfrm>
        </p:spPr>
        <p:txBody>
          <a:bodyPr>
            <a:normAutofit/>
          </a:bodyPr>
          <a:lstStyle/>
          <a:p>
            <a:pPr algn="just"/>
            <a:r>
              <a:rPr lang="ja-JP" altLang="en-US" sz="4000" dirty="0">
                <a:solidFill>
                  <a:schemeClr val="bg1"/>
                </a:solidFill>
              </a:rPr>
              <a:t>　</a:t>
            </a:r>
            <a:endParaRPr kumimoji="1" lang="ja-JP" altLang="en-US" sz="4000" dirty="0">
              <a:solidFill>
                <a:schemeClr val="bg1"/>
              </a:solidFill>
            </a:endParaRP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23D04860-05CF-49A0-A840-DA7970165E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1087821"/>
            <a:ext cx="12192000" cy="5770179"/>
          </a:xfrm>
        </p:spPr>
        <p:txBody>
          <a:bodyPr/>
          <a:lstStyle/>
          <a:p>
            <a:pPr algn="l"/>
            <a:endParaRPr lang="en-US" altLang="ja-JP" dirty="0">
              <a:solidFill>
                <a:schemeClr val="bg1"/>
              </a:solidFill>
            </a:endParaRPr>
          </a:p>
          <a:p>
            <a:pPr algn="l"/>
            <a:r>
              <a:rPr lang="ja-JP" altLang="en-US" dirty="0">
                <a:solidFill>
                  <a:schemeClr val="bg1"/>
                </a:solidFill>
              </a:rPr>
              <a:t>　　概要</a:t>
            </a:r>
            <a:endParaRPr lang="en-US" altLang="ja-JP" dirty="0">
              <a:solidFill>
                <a:schemeClr val="bg1"/>
              </a:solidFill>
            </a:endParaRPr>
          </a:p>
          <a:p>
            <a:pPr algn="l"/>
            <a:br>
              <a:rPr lang="en-US" altLang="ja-JP" dirty="0">
                <a:solidFill>
                  <a:schemeClr val="bg1"/>
                </a:solidFill>
              </a:rPr>
            </a:br>
            <a:r>
              <a:rPr lang="ja-JP" altLang="en-US" dirty="0">
                <a:solidFill>
                  <a:schemeClr val="bg1"/>
                </a:solidFill>
              </a:rPr>
              <a:t>　　➣ ジャンル</a:t>
            </a:r>
            <a:r>
              <a:rPr kumimoji="1" lang="ja-JP" altLang="en-US" dirty="0">
                <a:solidFill>
                  <a:schemeClr val="bg1"/>
                </a:solidFill>
              </a:rPr>
              <a:t>：</a:t>
            </a:r>
            <a:r>
              <a:rPr lang="ja-JP" altLang="en-US" dirty="0"/>
              <a:t> </a:t>
            </a:r>
            <a:r>
              <a:rPr lang="ja-JP" altLang="en-US" dirty="0">
                <a:solidFill>
                  <a:schemeClr val="bg1"/>
                </a:solidFill>
              </a:rPr>
              <a:t>対戦型格闘ゲーム</a:t>
            </a:r>
            <a:endParaRPr lang="en-US" altLang="ja-JP" dirty="0">
              <a:solidFill>
                <a:schemeClr val="bg1"/>
              </a:solidFill>
            </a:endParaRPr>
          </a:p>
          <a:p>
            <a:pPr algn="l"/>
            <a:r>
              <a:rPr lang="ja-JP" altLang="en-US" dirty="0">
                <a:solidFill>
                  <a:schemeClr val="bg1"/>
                </a:solidFill>
              </a:rPr>
              <a:t>　　➣ プラットフォーム：</a:t>
            </a:r>
            <a:r>
              <a:rPr lang="en-US" altLang="ja-JP" dirty="0">
                <a:solidFill>
                  <a:schemeClr val="bg1"/>
                </a:solidFill>
              </a:rPr>
              <a:t>Windows</a:t>
            </a:r>
            <a:endParaRPr kumimoji="1" lang="en-US" altLang="ja-JP" dirty="0">
              <a:solidFill>
                <a:schemeClr val="bg1"/>
              </a:solidFill>
            </a:endParaRPr>
          </a:p>
          <a:p>
            <a:pPr algn="l"/>
            <a:r>
              <a:rPr kumimoji="1" lang="ja-JP" altLang="en-US" dirty="0">
                <a:solidFill>
                  <a:schemeClr val="bg1"/>
                </a:solidFill>
              </a:rPr>
              <a:t>　　➣ 開発環境：</a:t>
            </a:r>
            <a:r>
              <a:rPr lang="en-US" altLang="ja-JP" dirty="0">
                <a:solidFill>
                  <a:schemeClr val="bg1"/>
                </a:solidFill>
              </a:rPr>
              <a:t>Visual Studio 2022</a:t>
            </a:r>
            <a:r>
              <a:rPr lang="ja-JP" altLang="en-US" dirty="0">
                <a:solidFill>
                  <a:schemeClr val="bg1"/>
                </a:solidFill>
              </a:rPr>
              <a:t>、</a:t>
            </a:r>
            <a:endParaRPr lang="en-US" altLang="ja-JP" dirty="0">
              <a:solidFill>
                <a:schemeClr val="bg1"/>
              </a:solidFill>
            </a:endParaRPr>
          </a:p>
          <a:p>
            <a:pPr algn="l"/>
            <a:r>
              <a:rPr lang="en-US" altLang="ja-JP" dirty="0">
                <a:solidFill>
                  <a:schemeClr val="bg1"/>
                </a:solidFill>
              </a:rPr>
              <a:t>		</a:t>
            </a:r>
            <a:r>
              <a:rPr lang="ja-JP" altLang="en-US" dirty="0">
                <a:solidFill>
                  <a:schemeClr val="bg1"/>
                </a:solidFill>
              </a:rPr>
              <a:t>　　 </a:t>
            </a:r>
            <a:r>
              <a:rPr lang="en-US" altLang="ja-JP" dirty="0">
                <a:solidFill>
                  <a:schemeClr val="bg1"/>
                </a:solidFill>
              </a:rPr>
              <a:t>DX</a:t>
            </a:r>
            <a:r>
              <a:rPr lang="ja-JP" altLang="en-US" dirty="0">
                <a:solidFill>
                  <a:schemeClr val="bg1"/>
                </a:solidFill>
              </a:rPr>
              <a:t>ライブラリ（</a:t>
            </a:r>
            <a:r>
              <a:rPr lang="en-US" altLang="ja-JP" dirty="0">
                <a:solidFill>
                  <a:schemeClr val="bg1"/>
                </a:solidFill>
              </a:rPr>
              <a:t>DirectX</a:t>
            </a:r>
            <a:r>
              <a:rPr lang="ja-JP" altLang="en-US" dirty="0">
                <a:solidFill>
                  <a:schemeClr val="bg1"/>
                </a:solidFill>
              </a:rPr>
              <a:t>をより扱いやすくしたライブラリ）、</a:t>
            </a:r>
            <a:endParaRPr lang="en-US" altLang="ja-JP" dirty="0">
              <a:solidFill>
                <a:schemeClr val="bg1"/>
              </a:solidFill>
            </a:endParaRPr>
          </a:p>
          <a:p>
            <a:pPr algn="l"/>
            <a:r>
              <a:rPr lang="en-US" altLang="ja-JP" dirty="0">
                <a:solidFill>
                  <a:schemeClr val="bg1"/>
                </a:solidFill>
              </a:rPr>
              <a:t>		</a:t>
            </a:r>
            <a:r>
              <a:rPr lang="ja-JP" altLang="en-US" dirty="0">
                <a:solidFill>
                  <a:schemeClr val="bg1"/>
                </a:solidFill>
              </a:rPr>
              <a:t>　　 </a:t>
            </a:r>
            <a:r>
              <a:rPr lang="en-US" altLang="ja-JP" dirty="0" err="1">
                <a:solidFill>
                  <a:schemeClr val="bg1"/>
                </a:solidFill>
              </a:rPr>
              <a:t>CoG</a:t>
            </a:r>
            <a:r>
              <a:rPr lang="ja-JP" altLang="en-US" dirty="0">
                <a:solidFill>
                  <a:schemeClr val="bg1"/>
                </a:solidFill>
              </a:rPr>
              <a:t>フレームワーク（</a:t>
            </a:r>
            <a:r>
              <a:rPr lang="en-US" altLang="ja-JP" sz="1800" dirty="0">
                <a:solidFill>
                  <a:schemeClr val="bg1"/>
                </a:solidFill>
              </a:rPr>
              <a:t>DX</a:t>
            </a:r>
            <a:r>
              <a:rPr lang="ja-JP" altLang="en-US" sz="1800" dirty="0">
                <a:solidFill>
                  <a:schemeClr val="bg1"/>
                </a:solidFill>
              </a:rPr>
              <a:t>ライブラリをさらに扱いやすくまとめたフレームワーク</a:t>
            </a:r>
            <a:r>
              <a:rPr lang="ja-JP" altLang="en-US" dirty="0">
                <a:solidFill>
                  <a:schemeClr val="bg1"/>
                </a:solidFill>
              </a:rPr>
              <a:t>）</a:t>
            </a:r>
            <a:endParaRPr kumimoji="1" lang="en-US" altLang="ja-JP" dirty="0">
              <a:solidFill>
                <a:schemeClr val="bg1"/>
              </a:solidFill>
            </a:endParaRPr>
          </a:p>
          <a:p>
            <a:pPr algn="l"/>
            <a:r>
              <a:rPr kumimoji="1" lang="ja-JP" altLang="en-US" dirty="0">
                <a:solidFill>
                  <a:schemeClr val="bg1"/>
                </a:solidFill>
              </a:rPr>
              <a:t>　　➣ 使用言語：</a:t>
            </a:r>
            <a:r>
              <a:rPr kumimoji="1" lang="en-US" altLang="ja-JP" dirty="0">
                <a:solidFill>
                  <a:schemeClr val="bg1"/>
                </a:solidFill>
              </a:rPr>
              <a:t>C++</a:t>
            </a:r>
            <a:endParaRPr lang="en-US" altLang="ja-JP" dirty="0">
              <a:solidFill>
                <a:schemeClr val="bg1"/>
              </a:solidFill>
            </a:endParaRPr>
          </a:p>
          <a:p>
            <a:pPr algn="l"/>
            <a:r>
              <a:rPr kumimoji="1" lang="ja-JP" altLang="en-US" dirty="0">
                <a:solidFill>
                  <a:schemeClr val="bg1"/>
                </a:solidFill>
              </a:rPr>
              <a:t>　　➣ 制作期間：</a:t>
            </a:r>
            <a:r>
              <a:rPr kumimoji="1" lang="en-US" altLang="ja-JP" dirty="0">
                <a:solidFill>
                  <a:schemeClr val="bg1"/>
                </a:solidFill>
              </a:rPr>
              <a:t>2025/4 ~ 2025/11</a:t>
            </a:r>
            <a:endParaRPr lang="en-US" altLang="ja-JP" dirty="0">
              <a:solidFill>
                <a:schemeClr val="bg1"/>
              </a:solidFill>
            </a:endParaRPr>
          </a:p>
          <a:p>
            <a:pPr algn="l"/>
            <a:r>
              <a:rPr kumimoji="1" lang="ja-JP" altLang="en-US" dirty="0">
                <a:solidFill>
                  <a:schemeClr val="bg1"/>
                </a:solidFill>
              </a:rPr>
              <a:t>　　➣ 制作人数：</a:t>
            </a:r>
            <a:r>
              <a:rPr kumimoji="1" lang="en-US" altLang="ja-JP" dirty="0">
                <a:solidFill>
                  <a:schemeClr val="bg1"/>
                </a:solidFill>
              </a:rPr>
              <a:t>1</a:t>
            </a:r>
            <a:r>
              <a:rPr kumimoji="1" lang="ja-JP" altLang="en-US" dirty="0">
                <a:solidFill>
                  <a:schemeClr val="bg1"/>
                </a:solidFill>
              </a:rPr>
              <a:t>人</a:t>
            </a:r>
            <a:endParaRPr kumimoji="1" lang="en-US" altLang="ja-JP" dirty="0">
              <a:solidFill>
                <a:schemeClr val="bg1"/>
              </a:solidFill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F481ADB3-DD13-4633-AADB-A16369483C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0831" y="0"/>
            <a:ext cx="4082372" cy="1314662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12797FA8-5603-4FFB-9DFF-899032EEAD9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00009" y="80788"/>
            <a:ext cx="6585283" cy="1153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10216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>
            <a:extLst>
              <a:ext uri="{FF2B5EF4-FFF2-40B4-BE49-F238E27FC236}">
                <a16:creationId xmlns:a16="http://schemas.microsoft.com/office/drawing/2014/main" id="{C9E160C0-10C0-4409-AE3E-613249A15F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0ECA17D6-EC72-4D71-9740-3DAC16133B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1077" y="839516"/>
            <a:ext cx="7725102" cy="2963918"/>
          </a:xfrm>
        </p:spPr>
        <p:txBody>
          <a:bodyPr anchor="t">
            <a:normAutofit/>
          </a:bodyPr>
          <a:lstStyle/>
          <a:p>
            <a:r>
              <a:rPr kumimoji="1" lang="en-US" altLang="ja-JP" sz="2400" dirty="0">
                <a:solidFill>
                  <a:schemeClr val="bg1"/>
                </a:solidFill>
              </a:rPr>
              <a:t>【</a:t>
            </a:r>
            <a:r>
              <a:rPr kumimoji="1" lang="ja-JP" altLang="en-US" sz="2400" dirty="0">
                <a:solidFill>
                  <a:schemeClr val="bg1"/>
                </a:solidFill>
              </a:rPr>
              <a:t>ゲーム内容</a:t>
            </a:r>
            <a:r>
              <a:rPr kumimoji="1" lang="en-US" altLang="ja-JP" sz="2400" dirty="0">
                <a:solidFill>
                  <a:schemeClr val="bg1"/>
                </a:solidFill>
              </a:rPr>
              <a:t>】</a:t>
            </a:r>
            <a:br>
              <a:rPr kumimoji="1" lang="en-US" altLang="ja-JP" sz="1800" dirty="0">
                <a:solidFill>
                  <a:schemeClr val="bg1"/>
                </a:solidFill>
              </a:rPr>
            </a:br>
            <a:br>
              <a:rPr kumimoji="1" lang="en-US" altLang="ja-JP" sz="1800" dirty="0">
                <a:solidFill>
                  <a:schemeClr val="bg1"/>
                </a:solidFill>
              </a:rPr>
            </a:br>
            <a:r>
              <a:rPr lang="ja-JP" altLang="en-US" sz="1800" dirty="0">
                <a:solidFill>
                  <a:schemeClr val="bg1"/>
                </a:solidFill>
              </a:rPr>
              <a:t>プレイヤーはメカキャラクターを操作して</a:t>
            </a:r>
            <a:r>
              <a:rPr lang="en-US" altLang="ja-JP" sz="1800" dirty="0">
                <a:solidFill>
                  <a:schemeClr val="bg1"/>
                </a:solidFill>
              </a:rPr>
              <a:t>1</a:t>
            </a:r>
            <a:r>
              <a:rPr lang="ja-JP" altLang="en-US" sz="1800" dirty="0">
                <a:solidFill>
                  <a:schemeClr val="bg1"/>
                </a:solidFill>
              </a:rPr>
              <a:t>対</a:t>
            </a:r>
            <a:r>
              <a:rPr lang="en-US" altLang="ja-JP" sz="1800" dirty="0">
                <a:solidFill>
                  <a:schemeClr val="bg1"/>
                </a:solidFill>
              </a:rPr>
              <a:t>1</a:t>
            </a:r>
            <a:r>
              <a:rPr lang="ja-JP" altLang="en-US" sz="1800" dirty="0">
                <a:solidFill>
                  <a:schemeClr val="bg1"/>
                </a:solidFill>
              </a:rPr>
              <a:t>で戦う</a:t>
            </a:r>
            <a:r>
              <a:rPr lang="en-US" altLang="ja-JP" sz="1800" dirty="0">
                <a:solidFill>
                  <a:schemeClr val="bg1"/>
                </a:solidFill>
              </a:rPr>
              <a:t>2D</a:t>
            </a:r>
            <a:r>
              <a:rPr lang="ja-JP" altLang="en-US" sz="1800" dirty="0">
                <a:solidFill>
                  <a:schemeClr val="bg1"/>
                </a:solidFill>
              </a:rPr>
              <a:t>格闘ゲームです。</a:t>
            </a:r>
            <a:br>
              <a:rPr lang="ja-JP" altLang="en-US" sz="1800" dirty="0">
                <a:solidFill>
                  <a:schemeClr val="bg1"/>
                </a:solidFill>
              </a:rPr>
            </a:br>
            <a:r>
              <a:rPr lang="ja-JP" altLang="en-US" sz="1800" dirty="0">
                <a:solidFill>
                  <a:schemeClr val="bg1"/>
                </a:solidFill>
              </a:rPr>
              <a:t>攻撃は「パンチ（弱・中・強）」と「キック（弱・中・強）」の全</a:t>
            </a:r>
            <a:r>
              <a:rPr lang="en-US" altLang="ja-JP" sz="1800" dirty="0">
                <a:solidFill>
                  <a:schemeClr val="bg1"/>
                </a:solidFill>
              </a:rPr>
              <a:t>6</a:t>
            </a:r>
            <a:r>
              <a:rPr lang="ja-JP" altLang="en-US" sz="1800" dirty="0">
                <a:solidFill>
                  <a:schemeClr val="bg1"/>
                </a:solidFill>
              </a:rPr>
              <a:t>種類　　　があり、攻撃の強さによって威力や発生速度が変化します。</a:t>
            </a:r>
            <a:br>
              <a:rPr lang="ja-JP" altLang="en-US" sz="1800" dirty="0">
                <a:solidFill>
                  <a:schemeClr val="bg1"/>
                </a:solidFill>
              </a:rPr>
            </a:br>
            <a:r>
              <a:rPr lang="ja-JP" altLang="en-US" sz="1800" dirty="0">
                <a:solidFill>
                  <a:schemeClr val="bg1"/>
                </a:solidFill>
              </a:rPr>
              <a:t>相手の</a:t>
            </a:r>
            <a:r>
              <a:rPr lang="en-US" altLang="ja-JP" sz="1800" dirty="0">
                <a:solidFill>
                  <a:schemeClr val="bg1"/>
                </a:solidFill>
              </a:rPr>
              <a:t>HP</a:t>
            </a:r>
            <a:r>
              <a:rPr lang="ja-JP" altLang="en-US" sz="1800" dirty="0">
                <a:solidFill>
                  <a:schemeClr val="bg1"/>
                </a:solidFill>
              </a:rPr>
              <a:t>を</a:t>
            </a:r>
            <a:r>
              <a:rPr lang="en-US" altLang="ja-JP" sz="1800" dirty="0">
                <a:solidFill>
                  <a:schemeClr val="bg1"/>
                </a:solidFill>
              </a:rPr>
              <a:t>0</a:t>
            </a:r>
            <a:r>
              <a:rPr lang="ja-JP" altLang="en-US" sz="1800" dirty="0">
                <a:solidFill>
                  <a:schemeClr val="bg1"/>
                </a:solidFill>
              </a:rPr>
              <a:t>にすると勝利となります。</a:t>
            </a:r>
            <a:br>
              <a:rPr lang="ja-JP" altLang="en-US" sz="1800" dirty="0">
                <a:solidFill>
                  <a:schemeClr val="bg1"/>
                </a:solidFill>
              </a:rPr>
            </a:br>
            <a:r>
              <a:rPr lang="ja-JP" altLang="en-US" sz="1800" dirty="0">
                <a:solidFill>
                  <a:schemeClr val="bg1"/>
                </a:solidFill>
              </a:rPr>
              <a:t>キャラクターは</a:t>
            </a:r>
            <a:r>
              <a:rPr lang="en-US" altLang="ja-JP" sz="1800" dirty="0">
                <a:solidFill>
                  <a:schemeClr val="bg1"/>
                </a:solidFill>
              </a:rPr>
              <a:t>1</a:t>
            </a:r>
            <a:r>
              <a:rPr lang="ja-JP" altLang="en-US" sz="1800" dirty="0">
                <a:solidFill>
                  <a:schemeClr val="bg1"/>
                </a:solidFill>
              </a:rPr>
              <a:t>種類のみですが、攻撃の組み合わせや距離の取り方で多彩な戦い方ができます。</a:t>
            </a:r>
            <a:br>
              <a:rPr lang="ja-JP" altLang="en-US" sz="1800" dirty="0">
                <a:solidFill>
                  <a:schemeClr val="bg1"/>
                </a:solidFill>
              </a:rPr>
            </a:br>
            <a:r>
              <a:rPr lang="en-US" altLang="ja-JP" sz="1800" dirty="0">
                <a:solidFill>
                  <a:schemeClr val="bg1"/>
                </a:solidFill>
              </a:rPr>
              <a:t>HP</a:t>
            </a:r>
            <a:r>
              <a:rPr lang="ja-JP" altLang="en-US" sz="1800" dirty="0">
                <a:solidFill>
                  <a:schemeClr val="bg1"/>
                </a:solidFill>
              </a:rPr>
              <a:t>バーは画面上部に固定表示され、操作のテンポや打撃感を重視したバトルを目指しました。</a:t>
            </a:r>
            <a:endParaRPr kumimoji="1" lang="ja-JP" altLang="en-US" sz="1800" dirty="0">
              <a:solidFill>
                <a:schemeClr val="bg1"/>
              </a:solidFill>
            </a:endParaRPr>
          </a:p>
        </p:txBody>
      </p:sp>
      <p:sp>
        <p:nvSpPr>
          <p:cNvPr id="5" name="タイトル 1">
            <a:extLst>
              <a:ext uri="{FF2B5EF4-FFF2-40B4-BE49-F238E27FC236}">
                <a16:creationId xmlns:a16="http://schemas.microsoft.com/office/drawing/2014/main" id="{C26F9C28-2BFA-4D04-A864-32FDAF3A1932}"/>
              </a:ext>
            </a:extLst>
          </p:cNvPr>
          <p:cNvSpPr txBox="1">
            <a:spLocks/>
          </p:cNvSpPr>
          <p:nvPr/>
        </p:nvSpPr>
        <p:spPr>
          <a:xfrm>
            <a:off x="331077" y="3968970"/>
            <a:ext cx="7859109" cy="217564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2400" dirty="0">
                <a:solidFill>
                  <a:schemeClr val="bg1"/>
                </a:solidFill>
              </a:rPr>
              <a:t>【</a:t>
            </a:r>
            <a:r>
              <a:rPr lang="ja-JP" altLang="en-US" sz="2400" dirty="0">
                <a:solidFill>
                  <a:schemeClr val="bg1"/>
                </a:solidFill>
              </a:rPr>
              <a:t>制作意図</a:t>
            </a:r>
            <a:r>
              <a:rPr lang="en-US" altLang="ja-JP" sz="2400" dirty="0">
                <a:solidFill>
                  <a:schemeClr val="bg1"/>
                </a:solidFill>
              </a:rPr>
              <a:t>】</a:t>
            </a:r>
            <a:br>
              <a:rPr lang="en-US" altLang="ja-JP" sz="1800" dirty="0">
                <a:solidFill>
                  <a:schemeClr val="bg1"/>
                </a:solidFill>
              </a:rPr>
            </a:br>
            <a:br>
              <a:rPr lang="en-US" altLang="ja-JP" sz="1800" dirty="0">
                <a:solidFill>
                  <a:schemeClr val="bg1"/>
                </a:solidFill>
              </a:rPr>
            </a:br>
            <a:r>
              <a:rPr lang="ja-JP" altLang="en-US" sz="1800" dirty="0">
                <a:solidFill>
                  <a:schemeClr val="bg1"/>
                </a:solidFill>
              </a:rPr>
              <a:t>格闘ゲームは、当たり判定やフレーム処理など、プログラム面で高い精度が求められるジャンルです。</a:t>
            </a:r>
            <a:br>
              <a:rPr lang="ja-JP" altLang="en-US" sz="1800" dirty="0">
                <a:solidFill>
                  <a:schemeClr val="bg1"/>
                </a:solidFill>
              </a:rPr>
            </a:br>
            <a:r>
              <a:rPr lang="ja-JP" altLang="en-US" sz="1800" dirty="0">
                <a:solidFill>
                  <a:schemeClr val="bg1"/>
                </a:solidFill>
              </a:rPr>
              <a:t>その複雑なシステムを一から自作することで、ゲームの設計や構造をより深く理解できると考え、制作しました。</a:t>
            </a:r>
            <a:br>
              <a:rPr lang="ja-JP" altLang="en-US" sz="1800" dirty="0">
                <a:solidFill>
                  <a:schemeClr val="bg1"/>
                </a:solidFill>
              </a:rPr>
            </a:br>
            <a:r>
              <a:rPr lang="en-US" altLang="ja-JP" sz="1800" dirty="0">
                <a:solidFill>
                  <a:schemeClr val="bg1"/>
                </a:solidFill>
              </a:rPr>
              <a:t>3</a:t>
            </a:r>
            <a:r>
              <a:rPr lang="ja-JP" altLang="en-US" sz="1800" dirty="0">
                <a:solidFill>
                  <a:schemeClr val="bg1"/>
                </a:solidFill>
              </a:rPr>
              <a:t>年間の集大成として、</a:t>
            </a:r>
            <a:r>
              <a:rPr lang="en-US" altLang="ja-JP" sz="1800" dirty="0">
                <a:solidFill>
                  <a:schemeClr val="bg1"/>
                </a:solidFill>
              </a:rPr>
              <a:t>C++</a:t>
            </a:r>
            <a:r>
              <a:rPr lang="ja-JP" altLang="en-US" sz="1800" dirty="0">
                <a:solidFill>
                  <a:schemeClr val="bg1"/>
                </a:solidFill>
              </a:rPr>
              <a:t>と</a:t>
            </a:r>
            <a:r>
              <a:rPr lang="en-US" altLang="ja-JP" sz="1800" dirty="0" err="1">
                <a:solidFill>
                  <a:schemeClr val="bg1"/>
                </a:solidFill>
              </a:rPr>
              <a:t>DxLib</a:t>
            </a:r>
            <a:r>
              <a:rPr lang="ja-JP" altLang="en-US" sz="1800" dirty="0">
                <a:solidFill>
                  <a:schemeClr val="bg1"/>
                </a:solidFill>
              </a:rPr>
              <a:t>を用い、エンジンに頼らない実装力を試しました。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AB3BFE7F-FFA5-4995-9450-A9FDC8A813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56178" y="960055"/>
            <a:ext cx="3723290" cy="2327056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EC12FD31-E6C0-4639-BA9A-438C243F18C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00999" y="3968970"/>
            <a:ext cx="3723290" cy="2327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39227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8171048D-035D-411F-99B6-8938408D0A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30455"/>
            <a:ext cx="12246141" cy="6888455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0EE238F-FB2D-4A9B-BAF0-5E250B245B05}"/>
              </a:ext>
            </a:extLst>
          </p:cNvPr>
          <p:cNvSpPr txBox="1"/>
          <p:nvPr/>
        </p:nvSpPr>
        <p:spPr>
          <a:xfrm>
            <a:off x="971860" y="1720840"/>
            <a:ext cx="5914076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bg1"/>
                </a:solidFill>
              </a:rPr>
              <a:t>【</a:t>
            </a:r>
            <a:r>
              <a:rPr lang="ja-JP" altLang="en-US" dirty="0">
                <a:solidFill>
                  <a:schemeClr val="bg1"/>
                </a:solidFill>
              </a:rPr>
              <a:t>キーボードコマンド</a:t>
            </a:r>
            <a:r>
              <a:rPr lang="en-US" altLang="ja-JP" dirty="0">
                <a:solidFill>
                  <a:schemeClr val="bg1"/>
                </a:solidFill>
              </a:rPr>
              <a:t>】</a:t>
            </a:r>
          </a:p>
          <a:p>
            <a:endParaRPr lang="en-US" altLang="ja-JP" dirty="0">
              <a:solidFill>
                <a:schemeClr val="bg1"/>
              </a:solidFill>
            </a:endParaRPr>
          </a:p>
          <a:p>
            <a:r>
              <a:rPr lang="ja-JP" altLang="en-US" dirty="0">
                <a:solidFill>
                  <a:schemeClr val="bg1"/>
                </a:solidFill>
              </a:rPr>
              <a:t>・左移動　　：</a:t>
            </a:r>
            <a:endParaRPr lang="en-US" altLang="ja-JP" dirty="0">
              <a:solidFill>
                <a:schemeClr val="bg1"/>
              </a:solidFill>
            </a:endParaRPr>
          </a:p>
          <a:p>
            <a:endParaRPr lang="en-US" altLang="ja-JP" dirty="0">
              <a:solidFill>
                <a:schemeClr val="bg1"/>
              </a:solidFill>
            </a:endParaRPr>
          </a:p>
          <a:p>
            <a:r>
              <a:rPr lang="ja-JP" altLang="en-US" dirty="0">
                <a:solidFill>
                  <a:schemeClr val="bg1"/>
                </a:solidFill>
              </a:rPr>
              <a:t>・右移動　　：</a:t>
            </a:r>
            <a:endParaRPr lang="en-US" altLang="ja-JP" dirty="0">
              <a:solidFill>
                <a:schemeClr val="bg1"/>
              </a:solidFill>
            </a:endParaRPr>
          </a:p>
          <a:p>
            <a:endParaRPr lang="en-US" altLang="ja-JP" dirty="0">
              <a:solidFill>
                <a:schemeClr val="bg1"/>
              </a:solidFill>
            </a:endParaRPr>
          </a:p>
          <a:p>
            <a:r>
              <a:rPr lang="ja-JP" altLang="en-US" dirty="0">
                <a:solidFill>
                  <a:schemeClr val="bg1"/>
                </a:solidFill>
              </a:rPr>
              <a:t>・パンチ弱　：</a:t>
            </a:r>
            <a:endParaRPr lang="en-US" altLang="ja-JP" dirty="0">
              <a:solidFill>
                <a:schemeClr val="bg1"/>
              </a:solidFill>
            </a:endParaRPr>
          </a:p>
          <a:p>
            <a:endParaRPr lang="en-US" altLang="ja-JP" dirty="0">
              <a:solidFill>
                <a:schemeClr val="bg1"/>
              </a:solidFill>
            </a:endParaRPr>
          </a:p>
          <a:p>
            <a:r>
              <a:rPr lang="en-US" altLang="ja-JP" dirty="0">
                <a:solidFill>
                  <a:schemeClr val="bg1"/>
                </a:solidFill>
              </a:rPr>
              <a:t>	</a:t>
            </a:r>
            <a:r>
              <a:rPr lang="ja-JP" altLang="en-US" dirty="0">
                <a:solidFill>
                  <a:schemeClr val="bg1"/>
                </a:solidFill>
              </a:rPr>
              <a:t>中：</a:t>
            </a:r>
            <a:endParaRPr lang="en-US" altLang="ja-JP" dirty="0">
              <a:solidFill>
                <a:schemeClr val="bg1"/>
              </a:solidFill>
            </a:endParaRPr>
          </a:p>
          <a:p>
            <a:endParaRPr lang="en-US" altLang="ja-JP" dirty="0">
              <a:solidFill>
                <a:schemeClr val="bg1"/>
              </a:solidFill>
            </a:endParaRPr>
          </a:p>
          <a:p>
            <a:r>
              <a:rPr lang="en-US" altLang="ja-JP" dirty="0">
                <a:solidFill>
                  <a:schemeClr val="bg1"/>
                </a:solidFill>
              </a:rPr>
              <a:t>	</a:t>
            </a:r>
            <a:r>
              <a:rPr lang="ja-JP" altLang="en-US" dirty="0">
                <a:solidFill>
                  <a:schemeClr val="bg1"/>
                </a:solidFill>
              </a:rPr>
              <a:t>強：</a:t>
            </a:r>
            <a:endParaRPr lang="en-US" altLang="ja-JP" dirty="0">
              <a:solidFill>
                <a:schemeClr val="bg1"/>
              </a:solidFill>
            </a:endParaRPr>
          </a:p>
          <a:p>
            <a:endParaRPr lang="en-US" altLang="ja-JP" dirty="0">
              <a:solidFill>
                <a:schemeClr val="bg1"/>
              </a:solidFill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539E2AC6-25FF-4C71-A9FD-32E00FA4E5AF}"/>
              </a:ext>
            </a:extLst>
          </p:cNvPr>
          <p:cNvSpPr txBox="1"/>
          <p:nvPr/>
        </p:nvSpPr>
        <p:spPr>
          <a:xfrm>
            <a:off x="6123070" y="1503802"/>
            <a:ext cx="456674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bg1"/>
                </a:solidFill>
              </a:rPr>
              <a:t>【</a:t>
            </a:r>
            <a:r>
              <a:rPr lang="ja-JP" altLang="en-US" dirty="0">
                <a:solidFill>
                  <a:schemeClr val="bg1"/>
                </a:solidFill>
              </a:rPr>
              <a:t>トレーニング専用コマンド</a:t>
            </a:r>
            <a:r>
              <a:rPr lang="en-US" altLang="ja-JP" dirty="0">
                <a:solidFill>
                  <a:schemeClr val="bg1"/>
                </a:solidFill>
              </a:rPr>
              <a:t>】</a:t>
            </a:r>
          </a:p>
          <a:p>
            <a:endParaRPr lang="en-US" altLang="ja-JP" dirty="0">
              <a:solidFill>
                <a:schemeClr val="bg1"/>
              </a:solidFill>
            </a:endParaRPr>
          </a:p>
          <a:p>
            <a:r>
              <a:rPr lang="ja-JP" altLang="en-US" dirty="0">
                <a:solidFill>
                  <a:schemeClr val="bg1"/>
                </a:solidFill>
              </a:rPr>
              <a:t>・オプション：</a:t>
            </a:r>
            <a:endParaRPr lang="en-US" altLang="ja-JP" sz="1800" dirty="0">
              <a:solidFill>
                <a:schemeClr val="bg1"/>
              </a:solidFill>
              <a:latin typeface="+mn-ea"/>
            </a:endParaRPr>
          </a:p>
          <a:p>
            <a:endParaRPr lang="en-US" altLang="ja-JP" dirty="0">
              <a:solidFill>
                <a:schemeClr val="bg1"/>
              </a:solidFill>
              <a:latin typeface="+mn-ea"/>
            </a:endParaRPr>
          </a:p>
          <a:p>
            <a:r>
              <a:rPr lang="ja-JP" altLang="en-US" dirty="0">
                <a:solidFill>
                  <a:schemeClr val="bg1"/>
                </a:solidFill>
                <a:latin typeface="+mn-ea"/>
              </a:rPr>
              <a:t>・モード切替：</a:t>
            </a:r>
            <a:endParaRPr lang="en-US" altLang="ja-JP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BB4B2347-92CB-42D1-80C5-9B9B8D8DF1D2}"/>
              </a:ext>
            </a:extLst>
          </p:cNvPr>
          <p:cNvSpPr txBox="1"/>
          <p:nvPr/>
        </p:nvSpPr>
        <p:spPr>
          <a:xfrm>
            <a:off x="6096000" y="3301114"/>
            <a:ext cx="4566745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bg1"/>
                </a:solidFill>
              </a:rPr>
              <a:t>【</a:t>
            </a:r>
            <a:r>
              <a:rPr lang="ja-JP" altLang="en-US" dirty="0">
                <a:solidFill>
                  <a:schemeClr val="bg1"/>
                </a:solidFill>
              </a:rPr>
              <a:t>選択コマンド</a:t>
            </a:r>
            <a:r>
              <a:rPr lang="en-US" altLang="ja-JP" dirty="0">
                <a:solidFill>
                  <a:schemeClr val="bg1"/>
                </a:solidFill>
              </a:rPr>
              <a:t>】</a:t>
            </a:r>
          </a:p>
          <a:p>
            <a:endParaRPr lang="en-US" altLang="ja-JP" dirty="0">
              <a:solidFill>
                <a:schemeClr val="bg1"/>
              </a:solidFill>
            </a:endParaRPr>
          </a:p>
          <a:p>
            <a:r>
              <a:rPr lang="ja-JP" altLang="en-US" dirty="0">
                <a:solidFill>
                  <a:schemeClr val="bg1"/>
                </a:solidFill>
              </a:rPr>
              <a:t>・</a:t>
            </a:r>
            <a:r>
              <a:rPr lang="en-US" altLang="ja-JP" dirty="0">
                <a:solidFill>
                  <a:schemeClr val="bg1"/>
                </a:solidFill>
              </a:rPr>
              <a:t>UI</a:t>
            </a:r>
            <a:r>
              <a:rPr lang="ja-JP" altLang="en-US" dirty="0">
                <a:solidFill>
                  <a:schemeClr val="bg1"/>
                </a:solidFill>
              </a:rPr>
              <a:t>の移動　：</a:t>
            </a:r>
            <a:endParaRPr lang="en-US" altLang="ja-JP" dirty="0">
              <a:solidFill>
                <a:schemeClr val="bg1"/>
              </a:solidFill>
            </a:endParaRPr>
          </a:p>
          <a:p>
            <a:endParaRPr lang="en-US" altLang="ja-JP" sz="1800" dirty="0">
              <a:solidFill>
                <a:schemeClr val="bg1"/>
              </a:solidFill>
              <a:latin typeface="+mn-ea"/>
            </a:endParaRPr>
          </a:p>
          <a:p>
            <a:endParaRPr lang="en-US" altLang="ja-JP" dirty="0">
              <a:solidFill>
                <a:schemeClr val="bg1"/>
              </a:solidFill>
              <a:latin typeface="+mn-ea"/>
            </a:endParaRPr>
          </a:p>
          <a:p>
            <a:r>
              <a:rPr lang="ja-JP" altLang="en-US" dirty="0">
                <a:solidFill>
                  <a:schemeClr val="bg1"/>
                </a:solidFill>
                <a:latin typeface="+mn-ea"/>
              </a:rPr>
              <a:t>・決定＆解除：</a:t>
            </a:r>
            <a:endParaRPr lang="en-US" altLang="ja-JP" dirty="0">
              <a:solidFill>
                <a:schemeClr val="bg1"/>
              </a:solidFill>
              <a:latin typeface="+mn-ea"/>
            </a:endParaRPr>
          </a:p>
          <a:p>
            <a:endParaRPr lang="en-US" altLang="ja-JP" dirty="0">
              <a:solidFill>
                <a:schemeClr val="bg1"/>
              </a:solidFill>
              <a:latin typeface="+mn-ea"/>
            </a:endParaRPr>
          </a:p>
          <a:p>
            <a:r>
              <a:rPr lang="ja-JP" altLang="en-US" dirty="0">
                <a:solidFill>
                  <a:schemeClr val="bg1"/>
                </a:solidFill>
                <a:latin typeface="+mn-ea"/>
              </a:rPr>
              <a:t>・タイトルへ：</a:t>
            </a:r>
            <a:br>
              <a:rPr lang="en-US" altLang="ja-JP" dirty="0">
                <a:solidFill>
                  <a:schemeClr val="bg1"/>
                </a:solidFill>
                <a:latin typeface="+mn-ea"/>
              </a:rPr>
            </a:br>
            <a:endParaRPr lang="en-US" altLang="ja-JP" dirty="0">
              <a:solidFill>
                <a:schemeClr val="bg1"/>
              </a:solidFill>
              <a:latin typeface="+mn-ea"/>
            </a:endParaRPr>
          </a:p>
          <a:p>
            <a:r>
              <a:rPr lang="ja-JP" altLang="en-US" dirty="0">
                <a:solidFill>
                  <a:schemeClr val="bg1"/>
                </a:solidFill>
                <a:latin typeface="+mn-ea"/>
              </a:rPr>
              <a:t>・ゲーム終了：</a:t>
            </a:r>
            <a:endParaRPr lang="en-US" altLang="ja-JP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646F406E-6800-42C8-A3AF-63C86E852B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952" y="386238"/>
            <a:ext cx="10515600" cy="1325563"/>
          </a:xfrm>
        </p:spPr>
        <p:txBody>
          <a:bodyPr/>
          <a:lstStyle/>
          <a:p>
            <a:r>
              <a:rPr kumimoji="1" lang="en-US" altLang="ja-JP" dirty="0">
                <a:solidFill>
                  <a:schemeClr val="bg1"/>
                </a:solidFill>
              </a:rPr>
              <a:t>【</a:t>
            </a:r>
            <a:r>
              <a:rPr kumimoji="1" lang="ja-JP" altLang="en-US" dirty="0">
                <a:solidFill>
                  <a:schemeClr val="bg1"/>
                </a:solidFill>
              </a:rPr>
              <a:t>キーボード操作方法</a:t>
            </a:r>
            <a:r>
              <a:rPr kumimoji="1" lang="en-US" altLang="ja-JP" dirty="0">
                <a:solidFill>
                  <a:schemeClr val="bg1"/>
                </a:solidFill>
              </a:rPr>
              <a:t>】</a:t>
            </a:r>
            <a:endParaRPr kumimoji="1" lang="ja-JP" altLang="en-US" dirty="0">
              <a:solidFill>
                <a:schemeClr val="bg1"/>
              </a:solidFill>
            </a:endParaRP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9E82BDA5-EEDF-46F4-8640-50886797BF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5614" y="2117251"/>
            <a:ext cx="575913" cy="575913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25D8F309-FDDB-4CCC-BBF2-641413C7268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5614" y="2702203"/>
            <a:ext cx="575913" cy="575913"/>
          </a:xfrm>
          <a:prstGeom prst="rect">
            <a:avLst/>
          </a:prstGeom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70CF7899-83B9-422B-B8B0-5DE161FFCB1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5614" y="3264477"/>
            <a:ext cx="575913" cy="575913"/>
          </a:xfrm>
          <a:prstGeom prst="rect">
            <a:avLst/>
          </a:prstGeom>
        </p:spPr>
      </p:pic>
      <p:pic>
        <p:nvPicPr>
          <p:cNvPr id="18" name="図 17">
            <a:extLst>
              <a:ext uri="{FF2B5EF4-FFF2-40B4-BE49-F238E27FC236}">
                <a16:creationId xmlns:a16="http://schemas.microsoft.com/office/drawing/2014/main" id="{54C847E7-6AAB-43B9-8AFA-CC307249C52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8794" y="3794827"/>
            <a:ext cx="575913" cy="575913"/>
          </a:xfrm>
          <a:prstGeom prst="rect">
            <a:avLst/>
          </a:prstGeom>
        </p:spPr>
      </p:pic>
      <p:pic>
        <p:nvPicPr>
          <p:cNvPr id="20" name="図 19">
            <a:extLst>
              <a:ext uri="{FF2B5EF4-FFF2-40B4-BE49-F238E27FC236}">
                <a16:creationId xmlns:a16="http://schemas.microsoft.com/office/drawing/2014/main" id="{2D099652-A0FA-4C5A-AC8D-42E2FB23F54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5614" y="4363252"/>
            <a:ext cx="562274" cy="562274"/>
          </a:xfrm>
          <a:prstGeom prst="rect">
            <a:avLst/>
          </a:prstGeom>
        </p:spPr>
      </p:pic>
      <p:pic>
        <p:nvPicPr>
          <p:cNvPr id="22" name="図 21">
            <a:extLst>
              <a:ext uri="{FF2B5EF4-FFF2-40B4-BE49-F238E27FC236}">
                <a16:creationId xmlns:a16="http://schemas.microsoft.com/office/drawing/2014/main" id="{C64C02C5-E57B-4843-B3AC-B09BF133A99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9305" y="2117250"/>
            <a:ext cx="535398" cy="575913"/>
          </a:xfrm>
          <a:prstGeom prst="rect">
            <a:avLst/>
          </a:prstGeom>
        </p:spPr>
      </p:pic>
      <p:pic>
        <p:nvPicPr>
          <p:cNvPr id="24" name="図 23">
            <a:extLst>
              <a:ext uri="{FF2B5EF4-FFF2-40B4-BE49-F238E27FC236}">
                <a16:creationId xmlns:a16="http://schemas.microsoft.com/office/drawing/2014/main" id="{CBDD5CC7-76E4-4978-945E-DF1A3976CDE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9305" y="2702202"/>
            <a:ext cx="575913" cy="575913"/>
          </a:xfrm>
          <a:prstGeom prst="rect">
            <a:avLst/>
          </a:prstGeom>
        </p:spPr>
      </p:pic>
      <p:pic>
        <p:nvPicPr>
          <p:cNvPr id="26" name="図 25">
            <a:extLst>
              <a:ext uri="{FF2B5EF4-FFF2-40B4-BE49-F238E27FC236}">
                <a16:creationId xmlns:a16="http://schemas.microsoft.com/office/drawing/2014/main" id="{1B3F6DC4-B28F-4E72-9444-0AF6F497B57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7646" y="3260427"/>
            <a:ext cx="530351" cy="575913"/>
          </a:xfrm>
          <a:prstGeom prst="rect">
            <a:avLst/>
          </a:prstGeom>
        </p:spPr>
      </p:pic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E04DA076-61B8-4C0C-8942-1F0EA0BA2DCA}"/>
              </a:ext>
            </a:extLst>
          </p:cNvPr>
          <p:cNvSpPr txBox="1"/>
          <p:nvPr/>
        </p:nvSpPr>
        <p:spPr>
          <a:xfrm>
            <a:off x="3615165" y="2279065"/>
            <a:ext cx="202249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>
                <a:solidFill>
                  <a:schemeClr val="bg1"/>
                </a:solidFill>
              </a:rPr>
              <a:t>・キック弱：</a:t>
            </a:r>
            <a:endParaRPr lang="en-US" altLang="ja-JP" dirty="0">
              <a:solidFill>
                <a:schemeClr val="bg1"/>
              </a:solidFill>
            </a:endParaRPr>
          </a:p>
          <a:p>
            <a:endParaRPr lang="en-US" altLang="ja-JP" dirty="0">
              <a:solidFill>
                <a:schemeClr val="bg1"/>
              </a:solidFill>
            </a:endParaRPr>
          </a:p>
          <a:p>
            <a:r>
              <a:rPr lang="en-US" altLang="ja-JP" dirty="0">
                <a:solidFill>
                  <a:schemeClr val="bg1"/>
                </a:solidFill>
              </a:rPr>
              <a:t>	</a:t>
            </a:r>
            <a:r>
              <a:rPr lang="ja-JP" altLang="en-US" dirty="0">
                <a:solidFill>
                  <a:schemeClr val="bg1"/>
                </a:solidFill>
              </a:rPr>
              <a:t>中：</a:t>
            </a:r>
            <a:endParaRPr lang="en-US" altLang="ja-JP" dirty="0">
              <a:solidFill>
                <a:schemeClr val="bg1"/>
              </a:solidFill>
            </a:endParaRPr>
          </a:p>
          <a:p>
            <a:endParaRPr lang="en-US" altLang="ja-JP" dirty="0">
              <a:solidFill>
                <a:schemeClr val="bg1"/>
              </a:solidFill>
            </a:endParaRPr>
          </a:p>
          <a:p>
            <a:r>
              <a:rPr lang="en-US" altLang="ja-JP" dirty="0">
                <a:solidFill>
                  <a:schemeClr val="bg1"/>
                </a:solidFill>
              </a:rPr>
              <a:t>	</a:t>
            </a:r>
            <a:r>
              <a:rPr lang="ja-JP" altLang="en-US" dirty="0">
                <a:solidFill>
                  <a:schemeClr val="bg1"/>
                </a:solidFill>
              </a:rPr>
              <a:t>強：</a:t>
            </a:r>
            <a:endParaRPr lang="en-US" altLang="ja-JP" dirty="0">
              <a:solidFill>
                <a:schemeClr val="bg1"/>
              </a:solidFill>
            </a:endParaRPr>
          </a:p>
          <a:p>
            <a:endParaRPr lang="en-US" altLang="ja-JP" dirty="0">
              <a:solidFill>
                <a:schemeClr val="bg1"/>
              </a:solidFill>
            </a:endParaRPr>
          </a:p>
          <a:p>
            <a:r>
              <a:rPr lang="ja-JP" altLang="en-US" dirty="0">
                <a:solidFill>
                  <a:schemeClr val="bg1"/>
                </a:solidFill>
              </a:rPr>
              <a:t>・ガード　：</a:t>
            </a:r>
            <a:endParaRPr lang="en-US" altLang="ja-JP" dirty="0">
              <a:solidFill>
                <a:schemeClr val="bg1"/>
              </a:solidFill>
            </a:endParaRPr>
          </a:p>
        </p:txBody>
      </p:sp>
      <p:pic>
        <p:nvPicPr>
          <p:cNvPr id="28" name="図 27">
            <a:extLst>
              <a:ext uri="{FF2B5EF4-FFF2-40B4-BE49-F238E27FC236}">
                <a16:creationId xmlns:a16="http://schemas.microsoft.com/office/drawing/2014/main" id="{6ED642A9-ADF2-4C33-9D4D-B87BC566D54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0994" y="3826876"/>
            <a:ext cx="517057" cy="517057"/>
          </a:xfrm>
          <a:prstGeom prst="rect">
            <a:avLst/>
          </a:prstGeom>
        </p:spPr>
      </p:pic>
      <p:pic>
        <p:nvPicPr>
          <p:cNvPr id="31" name="図 30">
            <a:extLst>
              <a:ext uri="{FF2B5EF4-FFF2-40B4-BE49-F238E27FC236}">
                <a16:creationId xmlns:a16="http://schemas.microsoft.com/office/drawing/2014/main" id="{4C5E9DBC-BF03-46A4-A506-8ECA7AFEFF0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93879" y="4986347"/>
            <a:ext cx="735701" cy="735701"/>
          </a:xfrm>
          <a:prstGeom prst="rect">
            <a:avLst/>
          </a:prstGeom>
        </p:spPr>
      </p:pic>
      <p:pic>
        <p:nvPicPr>
          <p:cNvPr id="33" name="図 32">
            <a:extLst>
              <a:ext uri="{FF2B5EF4-FFF2-40B4-BE49-F238E27FC236}">
                <a16:creationId xmlns:a16="http://schemas.microsoft.com/office/drawing/2014/main" id="{40089D42-A4F8-4DB3-82E6-E7A9A88A69E9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20997" y="2484578"/>
            <a:ext cx="643160" cy="643160"/>
          </a:xfrm>
          <a:prstGeom prst="rect">
            <a:avLst/>
          </a:prstGeom>
        </p:spPr>
      </p:pic>
      <p:pic>
        <p:nvPicPr>
          <p:cNvPr id="35" name="図 34">
            <a:extLst>
              <a:ext uri="{FF2B5EF4-FFF2-40B4-BE49-F238E27FC236}">
                <a16:creationId xmlns:a16="http://schemas.microsoft.com/office/drawing/2014/main" id="{986218ED-5CEF-4BE8-8F31-B5725E81D948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2870" y="3646855"/>
            <a:ext cx="663535" cy="663535"/>
          </a:xfrm>
          <a:prstGeom prst="rect">
            <a:avLst/>
          </a:prstGeom>
        </p:spPr>
      </p:pic>
      <p:pic>
        <p:nvPicPr>
          <p:cNvPr id="37" name="図 36">
            <a:extLst>
              <a:ext uri="{FF2B5EF4-FFF2-40B4-BE49-F238E27FC236}">
                <a16:creationId xmlns:a16="http://schemas.microsoft.com/office/drawing/2014/main" id="{BA843374-2646-4428-AD8C-E8E8FCB98FA8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29963" y="3646856"/>
            <a:ext cx="663534" cy="663534"/>
          </a:xfrm>
          <a:prstGeom prst="rect">
            <a:avLst/>
          </a:prstGeom>
        </p:spPr>
      </p:pic>
      <p:pic>
        <p:nvPicPr>
          <p:cNvPr id="39" name="図 38">
            <a:extLst>
              <a:ext uri="{FF2B5EF4-FFF2-40B4-BE49-F238E27FC236}">
                <a16:creationId xmlns:a16="http://schemas.microsoft.com/office/drawing/2014/main" id="{A4A08B59-8EF0-4DE4-A86B-081CFED60A0A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5054" y="3646854"/>
            <a:ext cx="663535" cy="663535"/>
          </a:xfrm>
          <a:prstGeom prst="rect">
            <a:avLst/>
          </a:prstGeom>
        </p:spPr>
      </p:pic>
      <p:pic>
        <p:nvPicPr>
          <p:cNvPr id="41" name="図 40">
            <a:extLst>
              <a:ext uri="{FF2B5EF4-FFF2-40B4-BE49-F238E27FC236}">
                <a16:creationId xmlns:a16="http://schemas.microsoft.com/office/drawing/2014/main" id="{BB47DAD2-BDDD-4BEF-A343-B23ED1D99E17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8589" y="3646855"/>
            <a:ext cx="663534" cy="663534"/>
          </a:xfrm>
          <a:prstGeom prst="rect">
            <a:avLst/>
          </a:prstGeom>
        </p:spPr>
      </p:pic>
      <p:pic>
        <p:nvPicPr>
          <p:cNvPr id="45" name="図 44">
            <a:extLst>
              <a:ext uri="{FF2B5EF4-FFF2-40B4-BE49-F238E27FC236}">
                <a16:creationId xmlns:a16="http://schemas.microsoft.com/office/drawing/2014/main" id="{DF4098DD-5A9C-4D24-B6EF-89226EB2FB23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20997" y="4417726"/>
            <a:ext cx="625278" cy="625278"/>
          </a:xfrm>
          <a:prstGeom prst="rect">
            <a:avLst/>
          </a:prstGeom>
        </p:spPr>
      </p:pic>
      <p:pic>
        <p:nvPicPr>
          <p:cNvPr id="47" name="図 46">
            <a:extLst>
              <a:ext uri="{FF2B5EF4-FFF2-40B4-BE49-F238E27FC236}">
                <a16:creationId xmlns:a16="http://schemas.microsoft.com/office/drawing/2014/main" id="{8F7C966E-3804-4F78-876A-0218CC492D27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8517" y="5684346"/>
            <a:ext cx="586426" cy="586426"/>
          </a:xfrm>
          <a:prstGeom prst="rect">
            <a:avLst/>
          </a:prstGeom>
        </p:spPr>
      </p:pic>
      <p:pic>
        <p:nvPicPr>
          <p:cNvPr id="48" name="図 47">
            <a:extLst>
              <a:ext uri="{FF2B5EF4-FFF2-40B4-BE49-F238E27FC236}">
                <a16:creationId xmlns:a16="http://schemas.microsoft.com/office/drawing/2014/main" id="{5D4B9ADB-A276-49C2-86BA-FB7C251124BD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6767" y="1722873"/>
            <a:ext cx="911995" cy="911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98404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8171048D-035D-411F-99B6-8938408D0A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394" y="-15228"/>
            <a:ext cx="12246141" cy="6888455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646F406E-6800-42C8-A3AF-63C86E852B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952" y="386238"/>
            <a:ext cx="10515600" cy="1325563"/>
          </a:xfrm>
        </p:spPr>
        <p:txBody>
          <a:bodyPr/>
          <a:lstStyle/>
          <a:p>
            <a:r>
              <a:rPr kumimoji="1" lang="en-US" altLang="ja-JP" dirty="0">
                <a:solidFill>
                  <a:schemeClr val="bg1"/>
                </a:solidFill>
              </a:rPr>
              <a:t>【</a:t>
            </a:r>
            <a:r>
              <a:rPr lang="ja-JP" altLang="en-US" dirty="0">
                <a:solidFill>
                  <a:schemeClr val="bg1"/>
                </a:solidFill>
              </a:rPr>
              <a:t>ゲームパッド</a:t>
            </a:r>
            <a:r>
              <a:rPr kumimoji="1" lang="ja-JP" altLang="en-US" dirty="0">
                <a:solidFill>
                  <a:schemeClr val="bg1"/>
                </a:solidFill>
              </a:rPr>
              <a:t>操作方法</a:t>
            </a:r>
            <a:r>
              <a:rPr kumimoji="1" lang="en-US" altLang="ja-JP" dirty="0">
                <a:solidFill>
                  <a:schemeClr val="bg1"/>
                </a:solidFill>
              </a:rPr>
              <a:t>】</a:t>
            </a:r>
            <a:endParaRPr kumimoji="1" lang="ja-JP" altLang="en-US" dirty="0">
              <a:solidFill>
                <a:schemeClr val="bg1"/>
              </a:solidFill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9FA20AF2-CDB0-4DC3-AA69-573B362A4EA4}"/>
              </a:ext>
            </a:extLst>
          </p:cNvPr>
          <p:cNvSpPr txBox="1"/>
          <p:nvPr/>
        </p:nvSpPr>
        <p:spPr>
          <a:xfrm>
            <a:off x="585952" y="1711800"/>
            <a:ext cx="3205655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bg1"/>
                </a:solidFill>
              </a:rPr>
              <a:t>【</a:t>
            </a:r>
            <a:r>
              <a:rPr lang="ja-JP" altLang="en-US" dirty="0">
                <a:solidFill>
                  <a:schemeClr val="bg1"/>
                </a:solidFill>
              </a:rPr>
              <a:t>ゲームパッドコマンド</a:t>
            </a:r>
            <a:r>
              <a:rPr lang="en-US" altLang="ja-JP" dirty="0">
                <a:solidFill>
                  <a:schemeClr val="bg1"/>
                </a:solidFill>
              </a:rPr>
              <a:t>】</a:t>
            </a:r>
          </a:p>
          <a:p>
            <a:endParaRPr lang="en-US" altLang="ja-JP" dirty="0">
              <a:solidFill>
                <a:schemeClr val="bg1"/>
              </a:solidFill>
            </a:endParaRPr>
          </a:p>
          <a:p>
            <a:r>
              <a:rPr lang="ja-JP" altLang="en-US" dirty="0">
                <a:solidFill>
                  <a:schemeClr val="bg1"/>
                </a:solidFill>
              </a:rPr>
              <a:t>・移動　　：</a:t>
            </a:r>
            <a:endParaRPr lang="en-US" altLang="ja-JP" dirty="0">
              <a:solidFill>
                <a:schemeClr val="bg1"/>
              </a:solidFill>
            </a:endParaRPr>
          </a:p>
          <a:p>
            <a:endParaRPr lang="en-US" altLang="ja-JP" dirty="0">
              <a:solidFill>
                <a:schemeClr val="bg1"/>
              </a:solidFill>
            </a:endParaRPr>
          </a:p>
          <a:p>
            <a:r>
              <a:rPr lang="ja-JP" altLang="en-US" dirty="0">
                <a:solidFill>
                  <a:schemeClr val="bg1"/>
                </a:solidFill>
              </a:rPr>
              <a:t>・パンチ弱：</a:t>
            </a:r>
            <a:endParaRPr lang="en-US" altLang="ja-JP" dirty="0">
              <a:solidFill>
                <a:schemeClr val="bg1"/>
              </a:solidFill>
            </a:endParaRPr>
          </a:p>
          <a:p>
            <a:endParaRPr lang="en-US" altLang="ja-JP" dirty="0">
              <a:solidFill>
                <a:schemeClr val="bg1"/>
              </a:solidFill>
            </a:endParaRPr>
          </a:p>
          <a:p>
            <a:r>
              <a:rPr lang="en-US" altLang="ja-JP" dirty="0">
                <a:solidFill>
                  <a:schemeClr val="bg1"/>
                </a:solidFill>
              </a:rPr>
              <a:t>	</a:t>
            </a:r>
            <a:r>
              <a:rPr lang="ja-JP" altLang="en-US" dirty="0">
                <a:solidFill>
                  <a:schemeClr val="bg1"/>
                </a:solidFill>
              </a:rPr>
              <a:t>中：</a:t>
            </a:r>
            <a:endParaRPr lang="en-US" altLang="ja-JP" dirty="0">
              <a:solidFill>
                <a:schemeClr val="bg1"/>
              </a:solidFill>
            </a:endParaRPr>
          </a:p>
          <a:p>
            <a:endParaRPr lang="en-US" altLang="ja-JP" dirty="0">
              <a:solidFill>
                <a:schemeClr val="bg1"/>
              </a:solidFill>
            </a:endParaRPr>
          </a:p>
          <a:p>
            <a:r>
              <a:rPr lang="en-US" altLang="ja-JP" dirty="0">
                <a:solidFill>
                  <a:schemeClr val="bg1"/>
                </a:solidFill>
              </a:rPr>
              <a:t>	</a:t>
            </a:r>
            <a:r>
              <a:rPr lang="ja-JP" altLang="en-US" dirty="0">
                <a:solidFill>
                  <a:schemeClr val="bg1"/>
                </a:solidFill>
              </a:rPr>
              <a:t>強：</a:t>
            </a:r>
            <a:endParaRPr lang="en-US" altLang="ja-JP" dirty="0">
              <a:solidFill>
                <a:schemeClr val="bg1"/>
              </a:solidFill>
            </a:endParaRPr>
          </a:p>
          <a:p>
            <a:endParaRPr lang="en-US" altLang="ja-JP" dirty="0">
              <a:solidFill>
                <a:schemeClr val="bg1"/>
              </a:solidFill>
            </a:endParaRPr>
          </a:p>
          <a:p>
            <a:r>
              <a:rPr lang="ja-JP" altLang="en-US" dirty="0">
                <a:solidFill>
                  <a:schemeClr val="bg1"/>
                </a:solidFill>
              </a:rPr>
              <a:t>・キック弱：</a:t>
            </a:r>
            <a:endParaRPr lang="en-US" altLang="ja-JP" dirty="0">
              <a:solidFill>
                <a:schemeClr val="bg1"/>
              </a:solidFill>
            </a:endParaRPr>
          </a:p>
          <a:p>
            <a:endParaRPr lang="en-US" altLang="ja-JP" dirty="0">
              <a:solidFill>
                <a:schemeClr val="bg1"/>
              </a:solidFill>
            </a:endParaRPr>
          </a:p>
          <a:p>
            <a:r>
              <a:rPr lang="en-US" altLang="ja-JP" dirty="0">
                <a:solidFill>
                  <a:schemeClr val="bg1"/>
                </a:solidFill>
              </a:rPr>
              <a:t>	</a:t>
            </a:r>
            <a:r>
              <a:rPr lang="ja-JP" altLang="en-US" dirty="0">
                <a:solidFill>
                  <a:schemeClr val="bg1"/>
                </a:solidFill>
              </a:rPr>
              <a:t>中：</a:t>
            </a:r>
            <a:endParaRPr lang="en-US" altLang="ja-JP" dirty="0">
              <a:solidFill>
                <a:schemeClr val="bg1"/>
              </a:solidFill>
            </a:endParaRPr>
          </a:p>
          <a:p>
            <a:endParaRPr lang="en-US" altLang="ja-JP" dirty="0">
              <a:solidFill>
                <a:schemeClr val="bg1"/>
              </a:solidFill>
            </a:endParaRPr>
          </a:p>
          <a:p>
            <a:r>
              <a:rPr lang="en-US" altLang="ja-JP" dirty="0">
                <a:solidFill>
                  <a:schemeClr val="bg1"/>
                </a:solidFill>
              </a:rPr>
              <a:t>	</a:t>
            </a:r>
            <a:r>
              <a:rPr lang="ja-JP" altLang="en-US" dirty="0">
                <a:solidFill>
                  <a:schemeClr val="bg1"/>
                </a:solidFill>
              </a:rPr>
              <a:t>強：</a:t>
            </a:r>
            <a:endParaRPr lang="en-US" altLang="ja-JP" dirty="0">
              <a:solidFill>
                <a:schemeClr val="bg1"/>
              </a:solidFill>
            </a:endParaRPr>
          </a:p>
          <a:p>
            <a:endParaRPr lang="en-US" altLang="ja-JP" dirty="0">
              <a:solidFill>
                <a:schemeClr val="bg1"/>
              </a:solidFill>
            </a:endParaRPr>
          </a:p>
          <a:p>
            <a:r>
              <a:rPr lang="ja-JP" altLang="en-US" dirty="0">
                <a:solidFill>
                  <a:schemeClr val="bg1"/>
                </a:solidFill>
              </a:rPr>
              <a:t>・ガード　：</a:t>
            </a:r>
            <a:endParaRPr lang="en-US" altLang="ja-JP" dirty="0">
              <a:solidFill>
                <a:schemeClr val="bg1"/>
              </a:solidFill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539E2AC6-25FF-4C71-A9FD-32E00FA4E5AF}"/>
              </a:ext>
            </a:extLst>
          </p:cNvPr>
          <p:cNvSpPr txBox="1"/>
          <p:nvPr/>
        </p:nvSpPr>
        <p:spPr>
          <a:xfrm>
            <a:off x="4091153" y="1711800"/>
            <a:ext cx="456674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bg1"/>
                </a:solidFill>
              </a:rPr>
              <a:t>【</a:t>
            </a:r>
            <a:r>
              <a:rPr lang="ja-JP" altLang="en-US" dirty="0">
                <a:solidFill>
                  <a:schemeClr val="bg1"/>
                </a:solidFill>
              </a:rPr>
              <a:t>トレーニング専用コマンド</a:t>
            </a:r>
            <a:r>
              <a:rPr lang="en-US" altLang="ja-JP" dirty="0">
                <a:solidFill>
                  <a:schemeClr val="bg1"/>
                </a:solidFill>
              </a:rPr>
              <a:t>】</a:t>
            </a:r>
          </a:p>
          <a:p>
            <a:endParaRPr lang="en-US" altLang="ja-JP" dirty="0">
              <a:solidFill>
                <a:schemeClr val="bg1"/>
              </a:solidFill>
            </a:endParaRPr>
          </a:p>
          <a:p>
            <a:r>
              <a:rPr lang="ja-JP" altLang="en-US" dirty="0">
                <a:solidFill>
                  <a:schemeClr val="bg1"/>
                </a:solidFill>
              </a:rPr>
              <a:t>・オプション：</a:t>
            </a:r>
            <a:endParaRPr lang="en-US" altLang="ja-JP" sz="1800" dirty="0">
              <a:solidFill>
                <a:schemeClr val="bg1"/>
              </a:solidFill>
              <a:latin typeface="+mn-ea"/>
            </a:endParaRPr>
          </a:p>
          <a:p>
            <a:endParaRPr lang="en-US" altLang="ja-JP" dirty="0">
              <a:solidFill>
                <a:schemeClr val="bg1"/>
              </a:solidFill>
              <a:latin typeface="+mn-ea"/>
            </a:endParaRPr>
          </a:p>
          <a:p>
            <a:r>
              <a:rPr lang="ja-JP" altLang="en-US" dirty="0">
                <a:solidFill>
                  <a:schemeClr val="bg1"/>
                </a:solidFill>
                <a:latin typeface="+mn-ea"/>
              </a:rPr>
              <a:t>・モード切替：</a:t>
            </a:r>
            <a:endParaRPr lang="en-US" altLang="ja-JP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B96DCC9C-7B0B-45A2-97C7-6AE6A0824091}"/>
              </a:ext>
            </a:extLst>
          </p:cNvPr>
          <p:cNvSpPr txBox="1"/>
          <p:nvPr/>
        </p:nvSpPr>
        <p:spPr>
          <a:xfrm>
            <a:off x="4091153" y="3391874"/>
            <a:ext cx="456674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bg1"/>
                </a:solidFill>
              </a:rPr>
              <a:t>【</a:t>
            </a:r>
            <a:r>
              <a:rPr lang="ja-JP" altLang="en-US" dirty="0">
                <a:solidFill>
                  <a:schemeClr val="bg1"/>
                </a:solidFill>
              </a:rPr>
              <a:t>選択コマンド</a:t>
            </a:r>
            <a:r>
              <a:rPr lang="en-US" altLang="ja-JP" dirty="0">
                <a:solidFill>
                  <a:schemeClr val="bg1"/>
                </a:solidFill>
              </a:rPr>
              <a:t>】</a:t>
            </a:r>
          </a:p>
          <a:p>
            <a:endParaRPr lang="en-US" altLang="ja-JP" dirty="0">
              <a:solidFill>
                <a:schemeClr val="bg1"/>
              </a:solidFill>
            </a:endParaRPr>
          </a:p>
          <a:p>
            <a:r>
              <a:rPr lang="ja-JP" altLang="en-US" dirty="0">
                <a:solidFill>
                  <a:schemeClr val="bg1"/>
                </a:solidFill>
              </a:rPr>
              <a:t>・</a:t>
            </a:r>
            <a:r>
              <a:rPr lang="en-US" altLang="ja-JP" dirty="0">
                <a:solidFill>
                  <a:schemeClr val="bg1"/>
                </a:solidFill>
              </a:rPr>
              <a:t>UI</a:t>
            </a:r>
            <a:r>
              <a:rPr lang="ja-JP" altLang="en-US" dirty="0">
                <a:solidFill>
                  <a:schemeClr val="bg1"/>
                </a:solidFill>
              </a:rPr>
              <a:t>の移動</a:t>
            </a:r>
            <a:r>
              <a:rPr lang="en-US" altLang="ja-JP" dirty="0">
                <a:solidFill>
                  <a:schemeClr val="bg1"/>
                </a:solidFill>
              </a:rPr>
              <a:t>	</a:t>
            </a:r>
            <a:r>
              <a:rPr lang="ja-JP" altLang="en-US" dirty="0">
                <a:solidFill>
                  <a:schemeClr val="bg1"/>
                </a:solidFill>
              </a:rPr>
              <a:t>：</a:t>
            </a:r>
            <a:endParaRPr lang="en-US" altLang="ja-JP" dirty="0">
              <a:solidFill>
                <a:schemeClr val="bg1"/>
              </a:solidFill>
            </a:endParaRPr>
          </a:p>
          <a:p>
            <a:endParaRPr lang="en-US" altLang="ja-JP" dirty="0">
              <a:solidFill>
                <a:schemeClr val="bg1"/>
              </a:solidFill>
              <a:latin typeface="+mn-ea"/>
            </a:endParaRPr>
          </a:p>
          <a:p>
            <a:r>
              <a:rPr lang="ja-JP" altLang="en-US" dirty="0">
                <a:solidFill>
                  <a:schemeClr val="bg1"/>
                </a:solidFill>
                <a:latin typeface="+mn-ea"/>
              </a:rPr>
              <a:t>・コマンド一覧　：</a:t>
            </a:r>
            <a:endParaRPr lang="en-US" altLang="ja-JP" sz="1800" dirty="0">
              <a:solidFill>
                <a:schemeClr val="bg1"/>
              </a:solidFill>
              <a:latin typeface="+mn-ea"/>
            </a:endParaRPr>
          </a:p>
          <a:p>
            <a:endParaRPr lang="en-US" altLang="ja-JP" dirty="0">
              <a:solidFill>
                <a:schemeClr val="bg1"/>
              </a:solidFill>
              <a:latin typeface="+mn-ea"/>
            </a:endParaRPr>
          </a:p>
          <a:p>
            <a:r>
              <a:rPr lang="ja-JP" altLang="en-US" dirty="0">
                <a:solidFill>
                  <a:schemeClr val="bg1"/>
                </a:solidFill>
                <a:latin typeface="+mn-ea"/>
              </a:rPr>
              <a:t>・決定＆解除</a:t>
            </a:r>
            <a:r>
              <a:rPr lang="en-US" altLang="ja-JP" dirty="0">
                <a:solidFill>
                  <a:schemeClr val="bg1"/>
                </a:solidFill>
                <a:latin typeface="+mn-ea"/>
              </a:rPr>
              <a:t>	</a:t>
            </a:r>
            <a:r>
              <a:rPr lang="ja-JP" altLang="en-US" dirty="0">
                <a:solidFill>
                  <a:schemeClr val="bg1"/>
                </a:solidFill>
                <a:latin typeface="+mn-ea"/>
              </a:rPr>
              <a:t>：</a:t>
            </a:r>
            <a:endParaRPr lang="en-US" altLang="ja-JP" dirty="0">
              <a:solidFill>
                <a:schemeClr val="bg1"/>
              </a:solidFill>
              <a:latin typeface="+mn-ea"/>
            </a:endParaRPr>
          </a:p>
          <a:p>
            <a:endParaRPr lang="en-US" altLang="ja-JP" dirty="0">
              <a:solidFill>
                <a:schemeClr val="bg1"/>
              </a:solidFill>
              <a:latin typeface="+mn-ea"/>
            </a:endParaRPr>
          </a:p>
          <a:p>
            <a:r>
              <a:rPr lang="ja-JP" altLang="en-US" dirty="0">
                <a:solidFill>
                  <a:schemeClr val="bg1"/>
                </a:solidFill>
                <a:latin typeface="+mn-ea"/>
              </a:rPr>
              <a:t>・タイトルへ＆ゲーム終了：</a:t>
            </a:r>
            <a:endParaRPr lang="en-US" altLang="ja-JP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F117836F-459E-4722-8AF2-DF87775D62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7766" y="4350536"/>
            <a:ext cx="609600" cy="609600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241FF53A-8457-4EFF-B4B0-D6F331905BF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6682" y="2671861"/>
            <a:ext cx="609600" cy="609600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076A51AF-D1B4-4351-BDAC-FBB902CC8BC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46486" y="2116768"/>
            <a:ext cx="609600" cy="609600"/>
          </a:xfrm>
          <a:prstGeom prst="rect">
            <a:avLst/>
          </a:prstGeom>
        </p:spPr>
      </p:pic>
      <p:pic>
        <p:nvPicPr>
          <p:cNvPr id="23" name="図 22">
            <a:extLst>
              <a:ext uri="{FF2B5EF4-FFF2-40B4-BE49-F238E27FC236}">
                <a16:creationId xmlns:a16="http://schemas.microsoft.com/office/drawing/2014/main" id="{3B6504E1-94BA-4F0E-88D5-92BCC9D2443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3671" y="5419355"/>
            <a:ext cx="609600" cy="609600"/>
          </a:xfrm>
          <a:prstGeom prst="rect">
            <a:avLst/>
          </a:prstGeom>
        </p:spPr>
      </p:pic>
      <p:pic>
        <p:nvPicPr>
          <p:cNvPr id="25" name="図 24">
            <a:extLst>
              <a:ext uri="{FF2B5EF4-FFF2-40B4-BE49-F238E27FC236}">
                <a16:creationId xmlns:a16="http://schemas.microsoft.com/office/drawing/2014/main" id="{21F04B4C-F19D-40EB-B06D-8E2FC515A0E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8778" y="5966235"/>
            <a:ext cx="609600" cy="609600"/>
          </a:xfrm>
          <a:prstGeom prst="rect">
            <a:avLst/>
          </a:prstGeom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95625F16-5C32-4B73-805C-C0E54F896EC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46486" y="2702599"/>
            <a:ext cx="609600" cy="609600"/>
          </a:xfrm>
          <a:prstGeom prst="rect">
            <a:avLst/>
          </a:prstGeom>
        </p:spPr>
      </p:pic>
      <p:pic>
        <p:nvPicPr>
          <p:cNvPr id="31" name="図 30">
            <a:extLst>
              <a:ext uri="{FF2B5EF4-FFF2-40B4-BE49-F238E27FC236}">
                <a16:creationId xmlns:a16="http://schemas.microsoft.com/office/drawing/2014/main" id="{D1EA2457-EFB7-448D-A62D-FFA3EF83C11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7766" y="3235576"/>
            <a:ext cx="609600" cy="609600"/>
          </a:xfrm>
          <a:prstGeom prst="rect">
            <a:avLst/>
          </a:prstGeom>
        </p:spPr>
      </p:pic>
      <p:pic>
        <p:nvPicPr>
          <p:cNvPr id="33" name="図 32">
            <a:extLst>
              <a:ext uri="{FF2B5EF4-FFF2-40B4-BE49-F238E27FC236}">
                <a16:creationId xmlns:a16="http://schemas.microsoft.com/office/drawing/2014/main" id="{4A9665FB-B4A0-4C19-A716-A88719AA1E5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7766" y="3799291"/>
            <a:ext cx="609600" cy="609600"/>
          </a:xfrm>
          <a:prstGeom prst="rect">
            <a:avLst/>
          </a:prstGeom>
        </p:spPr>
      </p:pic>
      <p:pic>
        <p:nvPicPr>
          <p:cNvPr id="35" name="図 34">
            <a:extLst>
              <a:ext uri="{FF2B5EF4-FFF2-40B4-BE49-F238E27FC236}">
                <a16:creationId xmlns:a16="http://schemas.microsoft.com/office/drawing/2014/main" id="{7858441D-0BC6-48E7-B121-7E0BA62C8878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8779" y="4868110"/>
            <a:ext cx="609600" cy="609600"/>
          </a:xfrm>
          <a:prstGeom prst="rect">
            <a:avLst/>
          </a:prstGeom>
        </p:spPr>
      </p:pic>
      <p:pic>
        <p:nvPicPr>
          <p:cNvPr id="39" name="図 38">
            <a:extLst>
              <a:ext uri="{FF2B5EF4-FFF2-40B4-BE49-F238E27FC236}">
                <a16:creationId xmlns:a16="http://schemas.microsoft.com/office/drawing/2014/main" id="{9E667BAC-1EAB-4CE3-96E0-2B957971266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8778" y="5419355"/>
            <a:ext cx="609600" cy="609600"/>
          </a:xfrm>
          <a:prstGeom prst="rect">
            <a:avLst/>
          </a:prstGeom>
        </p:spPr>
      </p:pic>
      <p:pic>
        <p:nvPicPr>
          <p:cNvPr id="41" name="図 40">
            <a:extLst>
              <a:ext uri="{FF2B5EF4-FFF2-40B4-BE49-F238E27FC236}">
                <a16:creationId xmlns:a16="http://schemas.microsoft.com/office/drawing/2014/main" id="{085A033A-4A7A-4EA4-B79C-C0E9D3671F92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6682" y="2100426"/>
            <a:ext cx="609600" cy="609600"/>
          </a:xfrm>
          <a:prstGeom prst="rect">
            <a:avLst/>
          </a:prstGeom>
        </p:spPr>
      </p:pic>
      <p:pic>
        <p:nvPicPr>
          <p:cNvPr id="43" name="図 42">
            <a:extLst>
              <a:ext uri="{FF2B5EF4-FFF2-40B4-BE49-F238E27FC236}">
                <a16:creationId xmlns:a16="http://schemas.microsoft.com/office/drawing/2014/main" id="{52F07E4D-2667-4AFF-984F-CE4B0186DD0F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4525" y="4372226"/>
            <a:ext cx="609600" cy="609600"/>
          </a:xfrm>
          <a:prstGeom prst="rect">
            <a:avLst/>
          </a:prstGeom>
        </p:spPr>
      </p:pic>
      <p:pic>
        <p:nvPicPr>
          <p:cNvPr id="44" name="図 43">
            <a:extLst>
              <a:ext uri="{FF2B5EF4-FFF2-40B4-BE49-F238E27FC236}">
                <a16:creationId xmlns:a16="http://schemas.microsoft.com/office/drawing/2014/main" id="{C2F20EC3-04E6-4E42-A6B3-F21F6B3B224F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4525" y="3786078"/>
            <a:ext cx="609600" cy="609600"/>
          </a:xfrm>
          <a:prstGeom prst="rect">
            <a:avLst/>
          </a:prstGeom>
        </p:spPr>
      </p:pic>
      <p:pic>
        <p:nvPicPr>
          <p:cNvPr id="45" name="図 44">
            <a:extLst>
              <a:ext uri="{FF2B5EF4-FFF2-40B4-BE49-F238E27FC236}">
                <a16:creationId xmlns:a16="http://schemas.microsoft.com/office/drawing/2014/main" id="{D33E779A-DDD1-4B5F-9C87-DAF5C41D555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4525" y="4919069"/>
            <a:ext cx="609600" cy="609600"/>
          </a:xfrm>
          <a:prstGeom prst="rect">
            <a:avLst/>
          </a:prstGeom>
        </p:spPr>
      </p:pic>
      <p:pic>
        <p:nvPicPr>
          <p:cNvPr id="47" name="図 46">
            <a:extLst>
              <a:ext uri="{FF2B5EF4-FFF2-40B4-BE49-F238E27FC236}">
                <a16:creationId xmlns:a16="http://schemas.microsoft.com/office/drawing/2014/main" id="{1E511BA3-6F3C-4E24-BD04-E7948FBCCBFB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8471" y="838469"/>
            <a:ext cx="4038262" cy="2523914"/>
          </a:xfrm>
          <a:prstGeom prst="rect">
            <a:avLst/>
          </a:prstGeom>
        </p:spPr>
      </p:pic>
      <p:pic>
        <p:nvPicPr>
          <p:cNvPr id="49" name="図 48">
            <a:extLst>
              <a:ext uri="{FF2B5EF4-FFF2-40B4-BE49-F238E27FC236}">
                <a16:creationId xmlns:a16="http://schemas.microsoft.com/office/drawing/2014/main" id="{FDE4E8B9-25DC-423A-85A1-536854DF4C16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4866" y="3486928"/>
            <a:ext cx="3401867" cy="2126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7612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62510B9F-D4D3-4AD9-881F-C7BB59BD59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38793"/>
            <a:ext cx="12191999" cy="6858000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D77BF31B-8925-4C81-B875-5E6B7E9FD0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926" y="895827"/>
            <a:ext cx="10515600" cy="1072255"/>
          </a:xfrm>
        </p:spPr>
        <p:txBody>
          <a:bodyPr/>
          <a:lstStyle/>
          <a:p>
            <a:r>
              <a:rPr lang="en-US" altLang="ja-JP" dirty="0">
                <a:solidFill>
                  <a:schemeClr val="bg1"/>
                </a:solidFill>
              </a:rPr>
              <a:t>【</a:t>
            </a:r>
            <a:r>
              <a:rPr lang="ja-JP" altLang="en-US" dirty="0">
                <a:solidFill>
                  <a:schemeClr val="bg1"/>
                </a:solidFill>
              </a:rPr>
              <a:t>コード一覧</a:t>
            </a:r>
            <a:r>
              <a:rPr lang="en-US" altLang="ja-JP" dirty="0">
                <a:solidFill>
                  <a:schemeClr val="bg1"/>
                </a:solidFill>
              </a:rPr>
              <a:t>】</a:t>
            </a:r>
            <a:endParaRPr kumimoji="1" lang="ja-JP" altLang="en-US" dirty="0">
              <a:solidFill>
                <a:schemeClr val="bg1"/>
              </a:solidFill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9C96CBA-F558-4255-82BE-7497933BE1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6926" y="2086167"/>
            <a:ext cx="10515600" cy="531193"/>
          </a:xfrm>
        </p:spPr>
        <p:txBody>
          <a:bodyPr/>
          <a:lstStyle/>
          <a:p>
            <a:r>
              <a:rPr lang="en-US" altLang="ja-JP" dirty="0">
                <a:solidFill>
                  <a:schemeClr val="bg1"/>
                </a:solidFill>
              </a:rPr>
              <a:t>	</a:t>
            </a:r>
            <a:r>
              <a:rPr kumimoji="1" lang="ja-JP" altLang="en-US" sz="3200" dirty="0">
                <a:solidFill>
                  <a:schemeClr val="bg1"/>
                </a:solidFill>
              </a:rPr>
              <a:t>➣ コードの場所：作成コード一覧￥ファイル名</a:t>
            </a:r>
          </a:p>
        </p:txBody>
      </p:sp>
      <p:sp>
        <p:nvSpPr>
          <p:cNvPr id="6" name="タイトル 1">
            <a:extLst>
              <a:ext uri="{FF2B5EF4-FFF2-40B4-BE49-F238E27FC236}">
                <a16:creationId xmlns:a16="http://schemas.microsoft.com/office/drawing/2014/main" id="{3D73087C-A0D6-4E3C-9DB3-3A252828B473}"/>
              </a:ext>
            </a:extLst>
          </p:cNvPr>
          <p:cNvSpPr txBox="1">
            <a:spLocks/>
          </p:cNvSpPr>
          <p:nvPr/>
        </p:nvSpPr>
        <p:spPr>
          <a:xfrm>
            <a:off x="576926" y="3247591"/>
            <a:ext cx="10515600" cy="107225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dirty="0">
                <a:solidFill>
                  <a:schemeClr val="bg1"/>
                </a:solidFill>
              </a:rPr>
              <a:t>【</a:t>
            </a:r>
            <a:r>
              <a:rPr lang="ja-JP" altLang="en-US" dirty="0">
                <a:solidFill>
                  <a:schemeClr val="bg1"/>
                </a:solidFill>
              </a:rPr>
              <a:t>注目コード</a:t>
            </a:r>
            <a:r>
              <a:rPr lang="en-US" altLang="ja-JP" dirty="0">
                <a:solidFill>
                  <a:schemeClr val="bg1"/>
                </a:solidFill>
              </a:rPr>
              <a:t>】</a:t>
            </a:r>
            <a:endParaRPr lang="ja-JP" altLang="en-US" dirty="0">
              <a:solidFill>
                <a:schemeClr val="bg1"/>
              </a:solidFill>
            </a:endParaRPr>
          </a:p>
        </p:txBody>
      </p:sp>
      <p:sp>
        <p:nvSpPr>
          <p:cNvPr id="7" name="テキスト プレースホルダー 2">
            <a:extLst>
              <a:ext uri="{FF2B5EF4-FFF2-40B4-BE49-F238E27FC236}">
                <a16:creationId xmlns:a16="http://schemas.microsoft.com/office/drawing/2014/main" id="{BD59184C-B6CE-46AA-B3FD-9552C102995A}"/>
              </a:ext>
            </a:extLst>
          </p:cNvPr>
          <p:cNvSpPr txBox="1">
            <a:spLocks/>
          </p:cNvSpPr>
          <p:nvPr/>
        </p:nvSpPr>
        <p:spPr>
          <a:xfrm>
            <a:off x="576926" y="4461986"/>
            <a:ext cx="10515600" cy="15001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dirty="0">
                <a:solidFill>
                  <a:schemeClr val="bg1"/>
                </a:solidFill>
              </a:rPr>
              <a:t>	</a:t>
            </a:r>
            <a:r>
              <a:rPr lang="ja-JP" altLang="en-US" dirty="0">
                <a:solidFill>
                  <a:schemeClr val="bg1"/>
                </a:solidFill>
              </a:rPr>
              <a:t>➣ </a:t>
            </a:r>
            <a:r>
              <a:rPr lang="en-US" altLang="ja-JP" b="1" dirty="0">
                <a:solidFill>
                  <a:srgbClr val="FF0000"/>
                </a:solidFill>
              </a:rPr>
              <a:t>Character.cpp</a:t>
            </a:r>
            <a:r>
              <a:rPr lang="ja-JP" altLang="en-US" dirty="0">
                <a:solidFill>
                  <a:schemeClr val="bg1"/>
                </a:solidFill>
              </a:rPr>
              <a:t>：キャラクターの全てをまとめている基底クラス</a:t>
            </a:r>
            <a:endParaRPr lang="en-US" altLang="ja-JP" dirty="0">
              <a:solidFill>
                <a:schemeClr val="bg1"/>
              </a:solidFill>
            </a:endParaRPr>
          </a:p>
          <a:p>
            <a:r>
              <a:rPr lang="en-US" altLang="ja-JP" dirty="0">
                <a:solidFill>
                  <a:schemeClr val="bg1"/>
                </a:solidFill>
              </a:rPr>
              <a:t>	</a:t>
            </a:r>
            <a:r>
              <a:rPr lang="ja-JP" altLang="en-US" dirty="0">
                <a:solidFill>
                  <a:schemeClr val="bg1"/>
                </a:solidFill>
              </a:rPr>
              <a:t>➣ </a:t>
            </a:r>
            <a:r>
              <a:rPr lang="en-US" altLang="ja-JP" b="1" dirty="0">
                <a:solidFill>
                  <a:srgbClr val="FF0000"/>
                </a:solidFill>
              </a:rPr>
              <a:t>Cpu.cpp</a:t>
            </a:r>
            <a:r>
              <a:rPr lang="ja-JP" altLang="en-US" dirty="0">
                <a:solidFill>
                  <a:schemeClr val="bg1"/>
                </a:solidFill>
              </a:rPr>
              <a:t>：</a:t>
            </a:r>
            <a:r>
              <a:rPr lang="en-US" altLang="ja-JP" dirty="0">
                <a:solidFill>
                  <a:schemeClr val="bg1"/>
                </a:solidFill>
              </a:rPr>
              <a:t>CPU</a:t>
            </a:r>
            <a:r>
              <a:rPr lang="ja-JP" altLang="en-US" dirty="0">
                <a:solidFill>
                  <a:schemeClr val="bg1"/>
                </a:solidFill>
              </a:rPr>
              <a:t>の動作プログラム</a:t>
            </a:r>
            <a:endParaRPr lang="en-US" altLang="ja-JP" dirty="0">
              <a:solidFill>
                <a:schemeClr val="bg1"/>
              </a:solidFill>
            </a:endParaRPr>
          </a:p>
          <a:p>
            <a:r>
              <a:rPr lang="en-US" altLang="ja-JP" dirty="0">
                <a:solidFill>
                  <a:schemeClr val="bg1"/>
                </a:solidFill>
              </a:rPr>
              <a:t>	</a:t>
            </a:r>
            <a:r>
              <a:rPr lang="ja-JP" altLang="en-US" dirty="0">
                <a:solidFill>
                  <a:schemeClr val="bg1"/>
                </a:solidFill>
              </a:rPr>
              <a:t>➣ </a:t>
            </a:r>
            <a:r>
              <a:rPr lang="en-US" altLang="ja-JP" b="1" dirty="0">
                <a:solidFill>
                  <a:srgbClr val="FF0000"/>
                </a:solidFill>
              </a:rPr>
              <a:t>PlayScene.cpp</a:t>
            </a:r>
            <a:r>
              <a:rPr lang="ja-JP" altLang="en-US" dirty="0">
                <a:solidFill>
                  <a:schemeClr val="bg1"/>
                </a:solidFill>
              </a:rPr>
              <a:t>：ゲームシーンの管理プログラム</a:t>
            </a:r>
          </a:p>
        </p:txBody>
      </p:sp>
    </p:spTree>
    <p:extLst>
      <p:ext uri="{BB962C8B-B14F-4D97-AF65-F5344CB8AC3E}">
        <p14:creationId xmlns:p14="http://schemas.microsoft.com/office/powerpoint/2010/main" val="30830932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5FF7C805-5F67-47AE-9325-7DEBBFC022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2191999" cy="6858000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387EF1EF-F7EE-4CF8-8A2F-0D577855FA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110836"/>
            <a:ext cx="12191999" cy="1154690"/>
          </a:xfrm>
        </p:spPr>
        <p:txBody>
          <a:bodyPr>
            <a:normAutofit/>
          </a:bodyPr>
          <a:lstStyle/>
          <a:p>
            <a:pPr algn="l"/>
            <a:r>
              <a:rPr kumimoji="1" lang="en-US" altLang="ja-JP" sz="4000" dirty="0">
                <a:solidFill>
                  <a:schemeClr val="bg1"/>
                </a:solidFill>
              </a:rPr>
              <a:t>【</a:t>
            </a:r>
            <a:r>
              <a:rPr kumimoji="1" lang="ja-JP" altLang="en-US" sz="4000" dirty="0">
                <a:solidFill>
                  <a:schemeClr val="bg1"/>
                </a:solidFill>
              </a:rPr>
              <a:t>アピール：当たり判定</a:t>
            </a:r>
            <a:r>
              <a:rPr kumimoji="1" lang="en-US" altLang="ja-JP" sz="4000" dirty="0">
                <a:solidFill>
                  <a:schemeClr val="bg1"/>
                </a:solidFill>
              </a:rPr>
              <a:t>】</a:t>
            </a:r>
            <a:endParaRPr kumimoji="1" lang="ja-JP" altLang="en-US" sz="4000" dirty="0">
              <a:solidFill>
                <a:schemeClr val="bg1"/>
              </a:solidFill>
            </a:endParaRP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AE0D6557-FCC8-4E86-8AB0-187C66124C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5883" y="1265525"/>
            <a:ext cx="7680961" cy="5279361"/>
          </a:xfrm>
        </p:spPr>
        <p:txBody>
          <a:bodyPr>
            <a:normAutofit/>
          </a:bodyPr>
          <a:lstStyle/>
          <a:p>
            <a:pPr algn="l"/>
            <a:r>
              <a:rPr lang="ja-JP" altLang="en-US" dirty="0">
                <a:solidFill>
                  <a:schemeClr val="bg1"/>
                </a:solidFill>
              </a:rPr>
              <a:t>本作では、格闘ゲームの根幹である</a:t>
            </a:r>
            <a:r>
              <a:rPr lang="ja-JP" altLang="en-US" b="1" dirty="0">
                <a:solidFill>
                  <a:srgbClr val="FF0000"/>
                </a:solidFill>
              </a:rPr>
              <a:t>当たり判定</a:t>
            </a:r>
            <a:r>
              <a:rPr lang="ja-JP" altLang="en-US" dirty="0">
                <a:solidFill>
                  <a:schemeClr val="bg1"/>
                </a:solidFill>
              </a:rPr>
              <a:t>を</a:t>
            </a:r>
            <a:r>
              <a:rPr lang="en-US" altLang="ja-JP" dirty="0">
                <a:solidFill>
                  <a:schemeClr val="bg1"/>
                </a:solidFill>
              </a:rPr>
              <a:t>1</a:t>
            </a:r>
            <a:r>
              <a:rPr lang="ja-JP" altLang="en-US" dirty="0">
                <a:solidFill>
                  <a:schemeClr val="bg1"/>
                </a:solidFill>
              </a:rPr>
              <a:t>から自作しました。</a:t>
            </a:r>
            <a:endParaRPr lang="en-US" altLang="ja-JP" dirty="0">
              <a:solidFill>
                <a:schemeClr val="bg1"/>
              </a:solidFill>
            </a:endParaRPr>
          </a:p>
          <a:p>
            <a:pPr algn="l"/>
            <a:r>
              <a:rPr lang="ja-JP" altLang="en-US" dirty="0">
                <a:solidFill>
                  <a:schemeClr val="bg1"/>
                </a:solidFill>
              </a:rPr>
              <a:t>当たり判定の流れは、</a:t>
            </a:r>
            <a:endParaRPr lang="en-US" altLang="ja-JP" dirty="0">
              <a:solidFill>
                <a:schemeClr val="bg1"/>
              </a:solidFill>
            </a:endParaRPr>
          </a:p>
          <a:p>
            <a:pPr marL="457200" indent="-457200" algn="l">
              <a:buAutoNum type="arabicParenR"/>
            </a:pPr>
            <a:r>
              <a:rPr lang="en-US" altLang="ja-JP" sz="2000" dirty="0">
                <a:solidFill>
                  <a:schemeClr val="bg1"/>
                </a:solidFill>
              </a:rPr>
              <a:t>BoneCollision()</a:t>
            </a:r>
          </a:p>
          <a:p>
            <a:pPr algn="l"/>
            <a:r>
              <a:rPr lang="en-US" altLang="ja-JP" sz="1400" dirty="0">
                <a:solidFill>
                  <a:schemeClr val="bg1"/>
                </a:solidFill>
              </a:rPr>
              <a:t>	</a:t>
            </a:r>
            <a:r>
              <a:rPr lang="ja-JP" altLang="en-US" sz="1400" dirty="0">
                <a:solidFill>
                  <a:schemeClr val="bg1"/>
                </a:solidFill>
              </a:rPr>
              <a:t>➣ モデルの各ボーンのワールド座標を取得し、動的に更新。</a:t>
            </a:r>
            <a:endParaRPr lang="en-US" altLang="ja-JP" sz="1400" dirty="0">
              <a:solidFill>
                <a:schemeClr val="bg1"/>
              </a:solidFill>
            </a:endParaRPr>
          </a:p>
          <a:p>
            <a:pPr algn="l"/>
            <a:r>
              <a:rPr lang="en-US" altLang="ja-JP" sz="1400" dirty="0">
                <a:solidFill>
                  <a:schemeClr val="bg1"/>
                </a:solidFill>
              </a:rPr>
              <a:t>	</a:t>
            </a:r>
            <a:r>
              <a:rPr lang="ja-JP" altLang="en-US" sz="1400" dirty="0">
                <a:solidFill>
                  <a:schemeClr val="bg1"/>
                </a:solidFill>
              </a:rPr>
              <a:t>➣ 当たり判定がリアルタイムで移動することで、見た目と判定が一致するように</a:t>
            </a:r>
            <a:r>
              <a:rPr lang="en-US" altLang="ja-JP" sz="1400" dirty="0">
                <a:solidFill>
                  <a:schemeClr val="bg1"/>
                </a:solidFill>
              </a:rPr>
              <a:t>	</a:t>
            </a:r>
            <a:r>
              <a:rPr lang="ja-JP" altLang="en-US" sz="1400" dirty="0">
                <a:solidFill>
                  <a:schemeClr val="bg1"/>
                </a:solidFill>
              </a:rPr>
              <a:t>　 しています。</a:t>
            </a:r>
            <a:endParaRPr lang="en-US" altLang="ja-JP" sz="1400" dirty="0">
              <a:solidFill>
                <a:schemeClr val="bg1"/>
              </a:solidFill>
            </a:endParaRPr>
          </a:p>
          <a:p>
            <a:pPr algn="l"/>
            <a:r>
              <a:rPr lang="en-US" altLang="ja-JP" sz="2000" dirty="0">
                <a:solidFill>
                  <a:schemeClr val="bg1"/>
                </a:solidFill>
              </a:rPr>
              <a:t>2) CollisionDetection()</a:t>
            </a:r>
          </a:p>
          <a:p>
            <a:pPr algn="l"/>
            <a:r>
              <a:rPr lang="en-US" altLang="ja-JP" sz="1400" dirty="0">
                <a:solidFill>
                  <a:schemeClr val="bg1"/>
                </a:solidFill>
              </a:rPr>
              <a:t>	</a:t>
            </a:r>
            <a:r>
              <a:rPr lang="ja-JP" altLang="en-US" sz="1400" dirty="0">
                <a:solidFill>
                  <a:schemeClr val="bg1"/>
                </a:solidFill>
              </a:rPr>
              <a:t>➣ ヒットした部位に応じて</a:t>
            </a:r>
            <a:r>
              <a:rPr lang="ja-JP" altLang="en-US" sz="1400" b="1" dirty="0">
                <a:solidFill>
                  <a:schemeClr val="bg1"/>
                </a:solidFill>
              </a:rPr>
              <a:t>ダメージ計算と効果音再生</a:t>
            </a:r>
            <a:r>
              <a:rPr lang="ja-JP" altLang="en-US" sz="1400" dirty="0">
                <a:solidFill>
                  <a:schemeClr val="bg1"/>
                </a:solidFill>
              </a:rPr>
              <a:t>を行い、フレーム単位での</a:t>
            </a:r>
            <a:r>
              <a:rPr lang="en-US" altLang="ja-JP" sz="1400" dirty="0">
                <a:solidFill>
                  <a:schemeClr val="bg1"/>
                </a:solidFill>
              </a:rPr>
              <a:t>	</a:t>
            </a:r>
            <a:r>
              <a:rPr lang="ja-JP" altLang="en-US" sz="1400" dirty="0">
                <a:solidFill>
                  <a:schemeClr val="bg1"/>
                </a:solidFill>
              </a:rPr>
              <a:t>　 制御にしています。</a:t>
            </a:r>
            <a:endParaRPr lang="en-US" altLang="ja-JP" sz="1400" dirty="0">
              <a:solidFill>
                <a:schemeClr val="bg1"/>
              </a:solidFill>
            </a:endParaRPr>
          </a:p>
          <a:p>
            <a:pPr algn="l"/>
            <a:r>
              <a:rPr lang="en-US" altLang="ja-JP" sz="2000" dirty="0">
                <a:solidFill>
                  <a:schemeClr val="bg1"/>
                </a:solidFill>
              </a:rPr>
              <a:t>3) UpdateDamage()</a:t>
            </a:r>
          </a:p>
          <a:p>
            <a:pPr algn="l"/>
            <a:r>
              <a:rPr lang="en-US" altLang="ja-JP" sz="1400" dirty="0">
                <a:solidFill>
                  <a:schemeClr val="bg1"/>
                </a:solidFill>
              </a:rPr>
              <a:t>	</a:t>
            </a:r>
            <a:r>
              <a:rPr lang="ja-JP" altLang="en-US" sz="1400" dirty="0">
                <a:solidFill>
                  <a:schemeClr val="bg1"/>
                </a:solidFill>
              </a:rPr>
              <a:t>➣ダメージの反映</a:t>
            </a:r>
            <a:endParaRPr lang="en-US" altLang="ja-JP" dirty="0">
              <a:solidFill>
                <a:schemeClr val="bg1"/>
              </a:solidFill>
            </a:endParaRPr>
          </a:p>
          <a:p>
            <a:pPr algn="l"/>
            <a:endParaRPr kumimoji="1" lang="en-US" altLang="ja-JP" sz="1400" dirty="0">
              <a:solidFill>
                <a:schemeClr val="bg1"/>
              </a:solidFill>
            </a:endParaRPr>
          </a:p>
          <a:p>
            <a:pPr algn="l"/>
            <a:r>
              <a:rPr kumimoji="1" lang="ja-JP" altLang="en-US" sz="1400" dirty="0">
                <a:solidFill>
                  <a:schemeClr val="bg1"/>
                </a:solidFill>
              </a:rPr>
              <a:t>また、キャラ同士の</a:t>
            </a:r>
            <a:r>
              <a:rPr kumimoji="0" lang="ja-JP" altLang="ja-JP" sz="1400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物理的な衝突処理</a:t>
            </a:r>
            <a:r>
              <a:rPr kumimoji="0" lang="ja-JP" altLang="ja-JP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は</a:t>
            </a:r>
            <a:r>
              <a:rPr kumimoji="0" lang="ja-JP" altLang="en-US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「</a:t>
            </a:r>
            <a:r>
              <a:rPr kumimoji="0" lang="ja-JP" altLang="ja-JP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 Unicode MS"/>
              </a:rPr>
              <a:t>ResolvePlayerCollision()</a:t>
            </a:r>
            <a:r>
              <a:rPr kumimoji="0" lang="ja-JP" altLang="en-US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 Unicode MS"/>
              </a:rPr>
              <a:t>」</a:t>
            </a:r>
            <a:r>
              <a:rPr kumimoji="0" lang="ja-JP" altLang="ja-JP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で独立して管理。 </a:t>
            </a:r>
            <a:endParaRPr kumimoji="0" lang="ja-JP" altLang="ja-JP" sz="1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  <a:p>
            <a:pPr algn="l"/>
            <a:r>
              <a:rPr lang="ja-JP" altLang="en-US" sz="1400" dirty="0">
                <a:solidFill>
                  <a:schemeClr val="bg1"/>
                </a:solidFill>
              </a:rPr>
              <a:t>攻撃判定とは別の段階で位置補正を行うことで、見た目とゲームロジックを明確に分離し、挙動の安定性と拡張性を高めました。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  <p:sp>
        <p:nvSpPr>
          <p:cNvPr id="5" name="フローチャート: 処理 4">
            <a:extLst>
              <a:ext uri="{FF2B5EF4-FFF2-40B4-BE49-F238E27FC236}">
                <a16:creationId xmlns:a16="http://schemas.microsoft.com/office/drawing/2014/main" id="{10B0508E-7555-4FC7-9BFE-CE451B3852A8}"/>
              </a:ext>
            </a:extLst>
          </p:cNvPr>
          <p:cNvSpPr/>
          <p:nvPr/>
        </p:nvSpPr>
        <p:spPr>
          <a:xfrm>
            <a:off x="315884" y="2471650"/>
            <a:ext cx="7614458" cy="2909455"/>
          </a:xfrm>
          <a:prstGeom prst="flowChartProcess">
            <a:avLst/>
          </a:pr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Rectangle 5">
            <a:extLst>
              <a:ext uri="{FF2B5EF4-FFF2-40B4-BE49-F238E27FC236}">
                <a16:creationId xmlns:a16="http://schemas.microsoft.com/office/drawing/2014/main" id="{52E5EAD3-877A-4CE5-ABEC-30F5E89735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ja-JP" altLang="ja-JP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27C40889-01CC-4C48-8C93-74002AC187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6844" y="426341"/>
            <a:ext cx="1774444" cy="3408156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D65BEBF2-D478-4AA7-A08B-8F82F338A07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24484" y="4821383"/>
            <a:ext cx="3159806" cy="1558061"/>
          </a:xfrm>
          <a:prstGeom prst="rect">
            <a:avLst/>
          </a:prstGeom>
        </p:spPr>
      </p:pic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49E0F2A6-B978-4116-BBB4-538B13A16C21}"/>
              </a:ext>
            </a:extLst>
          </p:cNvPr>
          <p:cNvSpPr txBox="1"/>
          <p:nvPr/>
        </p:nvSpPr>
        <p:spPr>
          <a:xfrm>
            <a:off x="9886604" y="726168"/>
            <a:ext cx="19839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>
                <a:solidFill>
                  <a:schemeClr val="bg1"/>
                </a:solidFill>
              </a:rPr>
              <a:t>← </a:t>
            </a:r>
            <a:r>
              <a:rPr lang="en-US" altLang="ja-JP" dirty="0">
                <a:solidFill>
                  <a:schemeClr val="bg1"/>
                </a:solidFill>
              </a:rPr>
              <a:t>Character.cpp</a:t>
            </a:r>
            <a:r>
              <a:rPr lang="ja-JP" altLang="en-US" dirty="0">
                <a:solidFill>
                  <a:schemeClr val="bg1"/>
                </a:solidFill>
              </a:rPr>
              <a:t> </a:t>
            </a:r>
            <a:endParaRPr lang="en-US" altLang="ja-JP" dirty="0">
              <a:solidFill>
                <a:schemeClr val="bg1"/>
              </a:solidFill>
            </a:endParaRPr>
          </a:p>
          <a:p>
            <a:r>
              <a:rPr lang="en-US" altLang="ja-JP" dirty="0">
                <a:solidFill>
                  <a:schemeClr val="bg1"/>
                </a:solidFill>
              </a:rPr>
              <a:t>626</a:t>
            </a:r>
            <a:r>
              <a:rPr lang="ja-JP" altLang="en-US" dirty="0">
                <a:solidFill>
                  <a:schemeClr val="bg1"/>
                </a:solidFill>
              </a:rPr>
              <a:t>行目以降</a:t>
            </a:r>
            <a:r>
              <a:rPr lang="en-US" altLang="ja-JP" dirty="0">
                <a:solidFill>
                  <a:schemeClr val="bg1"/>
                </a:solidFill>
              </a:rPr>
              <a:t> </a:t>
            </a:r>
            <a:endParaRPr kumimoji="1" lang="ja-JP" altLang="en-US" dirty="0">
              <a:solidFill>
                <a:schemeClr val="bg1"/>
              </a:solidFill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94E9099-7F36-49A0-ACC5-2C6A4EA9C282}"/>
              </a:ext>
            </a:extLst>
          </p:cNvPr>
          <p:cNvSpPr txBox="1"/>
          <p:nvPr/>
        </p:nvSpPr>
        <p:spPr>
          <a:xfrm>
            <a:off x="9146771" y="4024360"/>
            <a:ext cx="19839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>
                <a:solidFill>
                  <a:schemeClr val="bg1"/>
                </a:solidFill>
              </a:rPr>
              <a:t>↓ </a:t>
            </a:r>
            <a:r>
              <a:rPr lang="en-US" altLang="ja-JP" dirty="0">
                <a:solidFill>
                  <a:schemeClr val="bg1"/>
                </a:solidFill>
              </a:rPr>
              <a:t>Character.cpp</a:t>
            </a:r>
            <a:r>
              <a:rPr lang="ja-JP" altLang="en-US" dirty="0">
                <a:solidFill>
                  <a:schemeClr val="bg1"/>
                </a:solidFill>
              </a:rPr>
              <a:t> </a:t>
            </a:r>
            <a:endParaRPr lang="en-US" altLang="ja-JP" dirty="0">
              <a:solidFill>
                <a:schemeClr val="bg1"/>
              </a:solidFill>
            </a:endParaRPr>
          </a:p>
          <a:p>
            <a:r>
              <a:rPr lang="en-US" altLang="ja-JP" dirty="0">
                <a:solidFill>
                  <a:schemeClr val="bg1"/>
                </a:solidFill>
              </a:rPr>
              <a:t>533</a:t>
            </a:r>
            <a:r>
              <a:rPr lang="ja-JP" altLang="en-US" dirty="0">
                <a:solidFill>
                  <a:schemeClr val="bg1"/>
                </a:solidFill>
              </a:rPr>
              <a:t>行目以降</a:t>
            </a:r>
            <a:r>
              <a:rPr lang="en-US" altLang="ja-JP" dirty="0">
                <a:solidFill>
                  <a:schemeClr val="bg1"/>
                </a:solidFill>
              </a:rPr>
              <a:t> </a:t>
            </a:r>
            <a:endParaRPr kumimoji="1" lang="ja-JP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394182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A93330EE-6B8B-4FFC-8E4B-B735DA4812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0C9ACDA0-1289-4EE9-9EA7-B48C2498ED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6966" y="634683"/>
            <a:ext cx="11538066" cy="822815"/>
          </a:xfrm>
        </p:spPr>
        <p:txBody>
          <a:bodyPr>
            <a:normAutofit/>
          </a:bodyPr>
          <a:lstStyle/>
          <a:p>
            <a:pPr algn="l"/>
            <a:r>
              <a:rPr kumimoji="1" lang="en-US" altLang="ja-JP" sz="4000" dirty="0">
                <a:solidFill>
                  <a:schemeClr val="bg1"/>
                </a:solidFill>
              </a:rPr>
              <a:t>【</a:t>
            </a:r>
            <a:r>
              <a:rPr kumimoji="1" lang="ja-JP" altLang="en-US" sz="4000" dirty="0">
                <a:solidFill>
                  <a:schemeClr val="bg1"/>
                </a:solidFill>
              </a:rPr>
              <a:t>コード進化：</a:t>
            </a:r>
            <a:r>
              <a:rPr kumimoji="1" lang="en-US" altLang="ja-JP" sz="4000" dirty="0">
                <a:solidFill>
                  <a:schemeClr val="bg1"/>
                </a:solidFill>
              </a:rPr>
              <a:t>Player.cpp → Character.cpp】</a:t>
            </a:r>
            <a:endParaRPr kumimoji="1" lang="ja-JP" altLang="en-US" sz="4000" dirty="0">
              <a:solidFill>
                <a:schemeClr val="bg1"/>
              </a:solidFill>
            </a:endParaRP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81DC0F0A-1527-4642-A1A0-5BD00B17C7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6965" y="1457497"/>
            <a:ext cx="11538065" cy="4765819"/>
          </a:xfrm>
        </p:spPr>
        <p:txBody>
          <a:bodyPr/>
          <a:lstStyle/>
          <a:p>
            <a:pPr algn="l"/>
            <a:r>
              <a:rPr kumimoji="1" lang="ja-JP" altLang="en-US" dirty="0">
                <a:solidFill>
                  <a:schemeClr val="bg1"/>
                </a:solidFill>
              </a:rPr>
              <a:t>＜</a:t>
            </a:r>
            <a:r>
              <a:rPr kumimoji="1" lang="en-US" altLang="ja-JP" dirty="0">
                <a:solidFill>
                  <a:schemeClr val="bg1"/>
                </a:solidFill>
              </a:rPr>
              <a:t>Before</a:t>
            </a:r>
            <a:r>
              <a:rPr kumimoji="1" lang="ja-JP" altLang="en-US" dirty="0">
                <a:solidFill>
                  <a:schemeClr val="bg1"/>
                </a:solidFill>
              </a:rPr>
              <a:t>：</a:t>
            </a:r>
            <a:r>
              <a:rPr kumimoji="1" lang="en-US" altLang="ja-JP" dirty="0">
                <a:solidFill>
                  <a:schemeClr val="bg1"/>
                </a:solidFill>
              </a:rPr>
              <a:t>Player.cpp</a:t>
            </a:r>
            <a:r>
              <a:rPr kumimoji="1" lang="ja-JP" altLang="en-US" dirty="0">
                <a:solidFill>
                  <a:schemeClr val="bg1"/>
                </a:solidFill>
              </a:rPr>
              <a:t>＞</a:t>
            </a: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E04B0BCC-12B7-4E53-A05B-B703B1B789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994" y="1823839"/>
            <a:ext cx="4452853" cy="1494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29014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2A4561-DB48-47B2-B032-57840D7B86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場面数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A6A0A0F-E525-4468-BCF4-4526F064B195}"/>
              </a:ext>
            </a:extLst>
          </p:cNvPr>
          <p:cNvSpPr txBox="1"/>
          <p:nvPr/>
        </p:nvSpPr>
        <p:spPr>
          <a:xfrm>
            <a:off x="838200" y="1464767"/>
            <a:ext cx="10287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・タイトル画面</a:t>
            </a:r>
            <a:endParaRPr kumimoji="1" lang="en-US" altLang="ja-JP" dirty="0"/>
          </a:p>
          <a:p>
            <a:r>
              <a:rPr lang="ja-JP" altLang="en-US" dirty="0"/>
              <a:t>・セレクト画面</a:t>
            </a:r>
            <a:endParaRPr lang="en-US" altLang="ja-JP" dirty="0"/>
          </a:p>
          <a:p>
            <a:r>
              <a:rPr kumimoji="1" lang="ja-JP" altLang="en-US" dirty="0"/>
              <a:t>・バトル画面</a:t>
            </a:r>
            <a:endParaRPr kumimoji="1" lang="en-US" altLang="ja-JP" dirty="0"/>
          </a:p>
          <a:p>
            <a:r>
              <a:rPr lang="ja-JP" altLang="en-US" dirty="0"/>
              <a:t>・リトライ画面</a:t>
            </a:r>
            <a:endParaRPr kumimoji="1" lang="en-US" altLang="ja-JP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87E2790-7571-4C91-90AE-F76380DB691A}"/>
              </a:ext>
            </a:extLst>
          </p:cNvPr>
          <p:cNvSpPr/>
          <p:nvPr/>
        </p:nvSpPr>
        <p:spPr>
          <a:xfrm>
            <a:off x="542925" y="3455432"/>
            <a:ext cx="2047875" cy="14859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rgbClr val="FF0000"/>
                </a:solidFill>
              </a:rPr>
              <a:t>タイトル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B721A00-4306-4536-A723-4611471300DA}"/>
              </a:ext>
            </a:extLst>
          </p:cNvPr>
          <p:cNvSpPr/>
          <p:nvPr/>
        </p:nvSpPr>
        <p:spPr>
          <a:xfrm>
            <a:off x="3857625" y="3455432"/>
            <a:ext cx="2047875" cy="14859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rgbClr val="FF0000"/>
                </a:solidFill>
              </a:rPr>
              <a:t>セレクト</a:t>
            </a:r>
            <a:endParaRPr kumimoji="1" lang="ja-JP" altLang="en-US" dirty="0">
              <a:solidFill>
                <a:srgbClr val="FF0000"/>
              </a:solidFill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AD87DAA3-0A09-470B-AA3F-28D3F41A541D}"/>
              </a:ext>
            </a:extLst>
          </p:cNvPr>
          <p:cNvSpPr/>
          <p:nvPr/>
        </p:nvSpPr>
        <p:spPr>
          <a:xfrm>
            <a:off x="7048500" y="3449955"/>
            <a:ext cx="2047875" cy="14859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rgbClr val="FF0000"/>
                </a:solidFill>
              </a:rPr>
              <a:t>ゲーム</a:t>
            </a:r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A6ACA4EC-1980-48B3-8E13-D3C9EF56470F}"/>
              </a:ext>
            </a:extLst>
          </p:cNvPr>
          <p:cNvCxnSpPr/>
          <p:nvPr/>
        </p:nvCxnSpPr>
        <p:spPr>
          <a:xfrm>
            <a:off x="2857500" y="4160282"/>
            <a:ext cx="81915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EC78A32D-6778-4E70-8FAD-CF17D8DBE1E8}"/>
              </a:ext>
            </a:extLst>
          </p:cNvPr>
          <p:cNvCxnSpPr/>
          <p:nvPr/>
        </p:nvCxnSpPr>
        <p:spPr>
          <a:xfrm>
            <a:off x="6096000" y="4158139"/>
            <a:ext cx="81915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ADD9D09C-A963-4B94-A378-49895CC8DACB}"/>
              </a:ext>
            </a:extLst>
          </p:cNvPr>
          <p:cNvSpPr/>
          <p:nvPr/>
        </p:nvSpPr>
        <p:spPr>
          <a:xfrm>
            <a:off x="10101262" y="3449955"/>
            <a:ext cx="2047875" cy="14859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rgbClr val="FF0000"/>
                </a:solidFill>
              </a:rPr>
              <a:t>リトライ</a:t>
            </a:r>
            <a:endParaRPr kumimoji="1" lang="ja-JP" altLang="en-US" dirty="0">
              <a:solidFill>
                <a:srgbClr val="FF0000"/>
              </a:solidFill>
            </a:endParaRPr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574DBAF3-4E11-470E-875A-DADDF6CD66CD}"/>
              </a:ext>
            </a:extLst>
          </p:cNvPr>
          <p:cNvCxnSpPr/>
          <p:nvPr/>
        </p:nvCxnSpPr>
        <p:spPr>
          <a:xfrm>
            <a:off x="9195381" y="4171474"/>
            <a:ext cx="81915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コネクタ 26">
            <a:extLst>
              <a:ext uri="{FF2B5EF4-FFF2-40B4-BE49-F238E27FC236}">
                <a16:creationId xmlns:a16="http://schemas.microsoft.com/office/drawing/2014/main" id="{4393336F-6FF2-4EBA-A077-02480BC54268}"/>
              </a:ext>
            </a:extLst>
          </p:cNvPr>
          <p:cNvCxnSpPr/>
          <p:nvPr/>
        </p:nvCxnSpPr>
        <p:spPr>
          <a:xfrm>
            <a:off x="10915650" y="5372100"/>
            <a:ext cx="0" cy="6477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F6039C77-0107-4239-8A90-3982204245BC}"/>
              </a:ext>
            </a:extLst>
          </p:cNvPr>
          <p:cNvCxnSpPr>
            <a:cxnSpLocks/>
          </p:cNvCxnSpPr>
          <p:nvPr/>
        </p:nvCxnSpPr>
        <p:spPr>
          <a:xfrm flipH="1">
            <a:off x="1566862" y="6019800"/>
            <a:ext cx="9348788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線矢印コネクタ 31">
            <a:extLst>
              <a:ext uri="{FF2B5EF4-FFF2-40B4-BE49-F238E27FC236}">
                <a16:creationId xmlns:a16="http://schemas.microsoft.com/office/drawing/2014/main" id="{B52EE8DC-ABCE-49E4-892F-1C5B93E67581}"/>
              </a:ext>
            </a:extLst>
          </p:cNvPr>
          <p:cNvCxnSpPr/>
          <p:nvPr/>
        </p:nvCxnSpPr>
        <p:spPr>
          <a:xfrm flipV="1">
            <a:off x="4981575" y="5210175"/>
            <a:ext cx="0" cy="8096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直線矢印コネクタ 41">
            <a:extLst>
              <a:ext uri="{FF2B5EF4-FFF2-40B4-BE49-F238E27FC236}">
                <a16:creationId xmlns:a16="http://schemas.microsoft.com/office/drawing/2014/main" id="{27D0FD9B-EB81-4737-AED7-AAC6D864A49E}"/>
              </a:ext>
            </a:extLst>
          </p:cNvPr>
          <p:cNvCxnSpPr/>
          <p:nvPr/>
        </p:nvCxnSpPr>
        <p:spPr>
          <a:xfrm flipH="1">
            <a:off x="9324975" y="3838575"/>
            <a:ext cx="5334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線矢印コネクタ 45">
            <a:extLst>
              <a:ext uri="{FF2B5EF4-FFF2-40B4-BE49-F238E27FC236}">
                <a16:creationId xmlns:a16="http://schemas.microsoft.com/office/drawing/2014/main" id="{B9B09D31-4A94-49C2-AA97-628391EF94D9}"/>
              </a:ext>
            </a:extLst>
          </p:cNvPr>
          <p:cNvCxnSpPr/>
          <p:nvPr/>
        </p:nvCxnSpPr>
        <p:spPr>
          <a:xfrm flipH="1">
            <a:off x="2857500" y="3781425"/>
            <a:ext cx="69532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3585EAA1-5079-473A-A5BB-38B726DFCC42}"/>
              </a:ext>
            </a:extLst>
          </p:cNvPr>
          <p:cNvCxnSpPr/>
          <p:nvPr/>
        </p:nvCxnSpPr>
        <p:spPr>
          <a:xfrm flipV="1">
            <a:off x="1566862" y="5210175"/>
            <a:ext cx="0" cy="8096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32199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2EEA01F-1AF2-4E06-9A62-2ADD4CE7C4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19250" y="644526"/>
            <a:ext cx="9144000" cy="2133599"/>
          </a:xfrm>
        </p:spPr>
        <p:txBody>
          <a:bodyPr>
            <a:normAutofit/>
          </a:bodyPr>
          <a:lstStyle/>
          <a:p>
            <a:r>
              <a:rPr kumimoji="1" lang="ja-JP" altLang="en-US" sz="10000" dirty="0"/>
              <a:t>タイトル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5C68191-8585-438A-ACCB-E11454B3AA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6"/>
            <a:ext cx="9144000" cy="1655762"/>
          </a:xfrm>
        </p:spPr>
        <p:txBody>
          <a:bodyPr/>
          <a:lstStyle/>
          <a:p>
            <a:r>
              <a:rPr kumimoji="1" lang="ja-JP" altLang="en-US" dirty="0"/>
              <a:t>「</a:t>
            </a:r>
            <a:r>
              <a:rPr kumimoji="1" lang="en-US" altLang="ja-JP" dirty="0"/>
              <a:t>Enter</a:t>
            </a:r>
            <a:r>
              <a:rPr kumimoji="1" lang="ja-JP" altLang="en-US" dirty="0"/>
              <a:t>」か</a:t>
            </a:r>
            <a:r>
              <a:rPr kumimoji="1" lang="en-US" altLang="ja-JP" dirty="0"/>
              <a:t>B</a:t>
            </a:r>
            <a:r>
              <a:rPr kumimoji="1" lang="ja-JP" altLang="en-US" dirty="0"/>
              <a:t>ボタンでスタート</a:t>
            </a:r>
          </a:p>
        </p:txBody>
      </p:sp>
    </p:spTree>
    <p:extLst>
      <p:ext uri="{BB962C8B-B14F-4D97-AF65-F5344CB8AC3E}">
        <p14:creationId xmlns:p14="http://schemas.microsoft.com/office/powerpoint/2010/main" val="21005738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EA556C0-5DD8-49F1-BCFD-CB90F7462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セレクト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1FE672AB-C24E-4F83-9336-382D1738ECDA}"/>
              </a:ext>
            </a:extLst>
          </p:cNvPr>
          <p:cNvSpPr/>
          <p:nvPr/>
        </p:nvSpPr>
        <p:spPr>
          <a:xfrm>
            <a:off x="2647950" y="2695575"/>
            <a:ext cx="1352550" cy="162877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キャラ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B1E21641-AF92-4BC6-B2C3-D2AAF19B9DF9}"/>
              </a:ext>
            </a:extLst>
          </p:cNvPr>
          <p:cNvSpPr/>
          <p:nvPr/>
        </p:nvSpPr>
        <p:spPr>
          <a:xfrm>
            <a:off x="5305425" y="2695575"/>
            <a:ext cx="1352550" cy="162877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キャラ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B8101C9B-25A8-4833-AEB1-45076640F767}"/>
              </a:ext>
            </a:extLst>
          </p:cNvPr>
          <p:cNvSpPr/>
          <p:nvPr/>
        </p:nvSpPr>
        <p:spPr>
          <a:xfrm>
            <a:off x="7962900" y="2695575"/>
            <a:ext cx="1352550" cy="162877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キャラ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8681022-87E9-491C-AA8D-F9A88833EA3D}"/>
              </a:ext>
            </a:extLst>
          </p:cNvPr>
          <p:cNvSpPr/>
          <p:nvPr/>
        </p:nvSpPr>
        <p:spPr>
          <a:xfrm>
            <a:off x="3952875" y="4648200"/>
            <a:ext cx="1352550" cy="162877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キャラ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61C2B7ED-3ED5-4F2C-9B40-10ACF7FA21BF}"/>
              </a:ext>
            </a:extLst>
          </p:cNvPr>
          <p:cNvSpPr/>
          <p:nvPr/>
        </p:nvSpPr>
        <p:spPr>
          <a:xfrm>
            <a:off x="6610350" y="4648200"/>
            <a:ext cx="1352550" cy="162877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キャラ</a:t>
            </a:r>
          </a:p>
        </p:txBody>
      </p:sp>
    </p:spTree>
    <p:extLst>
      <p:ext uri="{BB962C8B-B14F-4D97-AF65-F5344CB8AC3E}">
        <p14:creationId xmlns:p14="http://schemas.microsoft.com/office/powerpoint/2010/main" val="34648252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A37FBEC-4F81-4EF0-A5ED-18F8031A9E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350" y="99218"/>
            <a:ext cx="10515600" cy="1325563"/>
          </a:xfrm>
        </p:spPr>
        <p:txBody>
          <a:bodyPr/>
          <a:lstStyle/>
          <a:p>
            <a:r>
              <a:rPr kumimoji="1" lang="ja-JP" altLang="en-US" dirty="0"/>
              <a:t>ゲーム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53D63FD-E35C-4B5D-AB3D-EF0692161EC6}"/>
              </a:ext>
            </a:extLst>
          </p:cNvPr>
          <p:cNvSpPr/>
          <p:nvPr/>
        </p:nvSpPr>
        <p:spPr>
          <a:xfrm>
            <a:off x="3057525" y="2466975"/>
            <a:ext cx="2190750" cy="362902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キャラ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28347EA-C43E-4578-84C7-23BF7E5D5099}"/>
              </a:ext>
            </a:extLst>
          </p:cNvPr>
          <p:cNvSpPr/>
          <p:nvPr/>
        </p:nvSpPr>
        <p:spPr>
          <a:xfrm>
            <a:off x="7496175" y="2466975"/>
            <a:ext cx="2190750" cy="362902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キャラ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1ABF6A07-DE58-4CC5-AC3B-7F354BDCC33C}"/>
              </a:ext>
            </a:extLst>
          </p:cNvPr>
          <p:cNvSpPr/>
          <p:nvPr/>
        </p:nvSpPr>
        <p:spPr>
          <a:xfrm>
            <a:off x="1304925" y="1200150"/>
            <a:ext cx="3943350" cy="533400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HP</a:t>
            </a:r>
            <a:endParaRPr kumimoji="1" lang="ja-JP" altLang="en-US" dirty="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A01EA96-CBEF-4F4C-8F5E-A136E6E4F4F4}"/>
              </a:ext>
            </a:extLst>
          </p:cNvPr>
          <p:cNvSpPr/>
          <p:nvPr/>
        </p:nvSpPr>
        <p:spPr>
          <a:xfrm>
            <a:off x="7496175" y="1200150"/>
            <a:ext cx="3943350" cy="533400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HP</a:t>
            </a:r>
            <a:endParaRPr kumimoji="1" lang="ja-JP" altLang="en-US" dirty="0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E2406FAC-CD78-4DF3-94A2-1814B260B7AF}"/>
              </a:ext>
            </a:extLst>
          </p:cNvPr>
          <p:cNvSpPr/>
          <p:nvPr/>
        </p:nvSpPr>
        <p:spPr>
          <a:xfrm>
            <a:off x="350192" y="2552700"/>
            <a:ext cx="952500" cy="30861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2821839-6557-456C-8CF1-D4D4053DF904}"/>
              </a:ext>
            </a:extLst>
          </p:cNvPr>
          <p:cNvSpPr txBox="1"/>
          <p:nvPr/>
        </p:nvSpPr>
        <p:spPr>
          <a:xfrm>
            <a:off x="595609" y="3333750"/>
            <a:ext cx="461665" cy="1333500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kumimoji="1" lang="ja-JP" altLang="en-US" dirty="0"/>
              <a:t>コマンド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1F64DE1-E8C7-4647-BE6C-2AC178C7824B}"/>
              </a:ext>
            </a:extLst>
          </p:cNvPr>
          <p:cNvSpPr/>
          <p:nvPr/>
        </p:nvSpPr>
        <p:spPr>
          <a:xfrm>
            <a:off x="10808642" y="2552700"/>
            <a:ext cx="952500" cy="30861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コマンド</a:t>
            </a:r>
          </a:p>
          <a:p>
            <a:pPr algn="ctr"/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567D1BD1-6E30-4B1E-A95B-FE13F697B2FE}"/>
              </a:ext>
            </a:extLst>
          </p:cNvPr>
          <p:cNvSpPr txBox="1"/>
          <p:nvPr/>
        </p:nvSpPr>
        <p:spPr>
          <a:xfrm>
            <a:off x="11054059" y="3333750"/>
            <a:ext cx="461665" cy="124777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kumimoji="1" lang="ja-JP" altLang="en-US" dirty="0"/>
              <a:t>コマンド</a:t>
            </a:r>
          </a:p>
        </p:txBody>
      </p:sp>
    </p:spTree>
    <p:extLst>
      <p:ext uri="{BB962C8B-B14F-4D97-AF65-F5344CB8AC3E}">
        <p14:creationId xmlns:p14="http://schemas.microsoft.com/office/powerpoint/2010/main" val="34602344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6642868-DB41-4B4D-BD90-A198EA1FB0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リトライ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5F2AF6D-07C9-4467-8E0F-2AFA31BC2151}"/>
              </a:ext>
            </a:extLst>
          </p:cNvPr>
          <p:cNvSpPr/>
          <p:nvPr/>
        </p:nvSpPr>
        <p:spPr>
          <a:xfrm>
            <a:off x="4567234" y="5214937"/>
            <a:ext cx="3057525" cy="762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タイトルへ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1FEF113-E625-4C2C-9741-3F8F1803F934}"/>
              </a:ext>
            </a:extLst>
          </p:cNvPr>
          <p:cNvSpPr/>
          <p:nvPr/>
        </p:nvSpPr>
        <p:spPr>
          <a:xfrm>
            <a:off x="4567234" y="3745706"/>
            <a:ext cx="3057525" cy="762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セレクト</a:t>
            </a:r>
            <a:r>
              <a:rPr kumimoji="1" lang="ja-JP" altLang="en-US" dirty="0"/>
              <a:t>へ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17875AE-1639-4E08-8B8D-36D118830F09}"/>
              </a:ext>
            </a:extLst>
          </p:cNvPr>
          <p:cNvSpPr/>
          <p:nvPr/>
        </p:nvSpPr>
        <p:spPr>
          <a:xfrm>
            <a:off x="4567234" y="2276475"/>
            <a:ext cx="3057525" cy="762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再挑戦</a:t>
            </a:r>
          </a:p>
        </p:txBody>
      </p:sp>
    </p:spTree>
    <p:extLst>
      <p:ext uri="{BB962C8B-B14F-4D97-AF65-F5344CB8AC3E}">
        <p14:creationId xmlns:p14="http://schemas.microsoft.com/office/powerpoint/2010/main" val="21663654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291</TotalTime>
  <Words>728</Words>
  <Application>Microsoft Office PowerPoint</Application>
  <PresentationFormat>ワイド画面</PresentationFormat>
  <Paragraphs>132</Paragraphs>
  <Slides>12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17" baseType="lpstr">
      <vt:lpstr>Arial Unicode MS</vt:lpstr>
      <vt:lpstr>游ゴシック</vt:lpstr>
      <vt:lpstr>游ゴシック Light</vt:lpstr>
      <vt:lpstr>Arial</vt:lpstr>
      <vt:lpstr>Office テーマ</vt:lpstr>
      <vt:lpstr>　</vt:lpstr>
      <vt:lpstr>【ゲーム内容】  プレイヤーはメカキャラクターを操作して1対1で戦う2D格闘ゲームです。 攻撃は「パンチ（弱・中・強）」と「キック（弱・中・強）」の全6種類　　　があり、攻撃の強さによって威力や発生速度が変化します。 相手のHPを0にすると勝利となります。 キャラクターは1種類のみですが、攻撃の組み合わせや距離の取り方で多彩な戦い方ができます。 HPバーは画面上部に固定表示され、操作のテンポや打撃感を重視したバトルを目指しました。</vt:lpstr>
      <vt:lpstr>【キーボード操作方法】</vt:lpstr>
      <vt:lpstr>【ゲームパッド操作方法】</vt:lpstr>
      <vt:lpstr>【コード一覧】</vt:lpstr>
      <vt:lpstr>【アピール：当たり判定】</vt:lpstr>
      <vt:lpstr>【コード進化：Player.cpp → Character.cpp】</vt:lpstr>
      <vt:lpstr>場面数</vt:lpstr>
      <vt:lpstr>タイトル</vt:lpstr>
      <vt:lpstr>セレクト</vt:lpstr>
      <vt:lpstr>ゲーム</vt:lpstr>
      <vt:lpstr>リトライ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仕様書</dc:title>
  <dc:creator>student</dc:creator>
  <cp:lastModifiedBy>student</cp:lastModifiedBy>
  <cp:revision>37</cp:revision>
  <dcterms:created xsi:type="dcterms:W3CDTF">2025-02-14T05:54:00Z</dcterms:created>
  <dcterms:modified xsi:type="dcterms:W3CDTF">2025-12-18T10:49:15Z</dcterms:modified>
</cp:coreProperties>
</file>