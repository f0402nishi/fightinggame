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57" r:id="rId4"/>
    <p:sldId id="258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7" autoAdjust="0"/>
    <p:restoredTop sz="94660"/>
  </p:normalViewPr>
  <p:slideViewPr>
    <p:cSldViewPr snapToGrid="0">
      <p:cViewPr varScale="1">
        <p:scale>
          <a:sx n="97" d="100"/>
          <a:sy n="97" d="100"/>
        </p:scale>
        <p:origin x="14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584BE7-E700-425B-B482-0521E0E643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41A433C-7B3D-44A3-86F1-A61C088376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38A2E7-35BA-4200-827E-1FC47D74F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D90EA19-CD38-41D6-B313-CEAD4A17B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1785F0B-5674-41C7-B890-F41D05C0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6490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F4EA03-2CD1-4EF9-905E-E7401045A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D056886-5328-4B9E-A1A2-8D01042D4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2F7EEA-D7FC-435E-902B-541547020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484B5D-9C65-4A2B-A40C-8FF064F57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241E1F-F0BF-4602-BDE6-5D90AC5C7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8519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FCB4C7-3394-4B23-933D-AC5570588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E46B2CE-31D4-4294-847C-F8F6C22038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0B1EE-CE8E-4DDC-829B-EFA9DF1B2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68E3FDB-CF42-465F-A490-47ED98570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12EC8B-5B4D-472E-9D64-23A2E36E3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9958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0DE98A-598A-448C-878E-373BABE2E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8E5311-607D-4951-BBA8-7C59D651E0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0EB79B0-C8FA-4B7F-AA13-9C1F2A69CE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2A226EF-9280-47F5-81AA-CF15FEF94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BFFDF05-9F2F-4758-9CFD-B86607BC5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DB31E6-50FB-4E45-869A-0B1083DB2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4040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B794E2-662F-42E4-964B-A18F37602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99835C-B3BF-4EC9-BDD2-65084285A3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10DF07-CB01-4E54-BACE-7F8D9EC314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BA8C5D5-AC2B-405A-86D3-F35A6ECF4C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14D55F4-7924-49EE-9509-2A03AB6A76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B81D9C-7076-47D5-8A4E-9EC713DC0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93B2C06-87C7-4DD7-A33B-ABCC53187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D581FE-1DFB-447D-92C8-1BB976D6A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320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0399DA-7A75-4DBD-8BCD-4D78EE150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B4F2469-9074-4D85-903E-F74915616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C6E96C4-E0CA-4E83-868F-00460A0F5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0CCF004-D557-47E9-9A89-030AFDC68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0620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A2EC5CE-1394-4E5F-96FE-FBB28A108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0BFBE42-0B40-41C8-9790-4BEC74EE0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A8B1B3D-D402-487B-9B7A-B13176846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8681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7A51E6-6727-4493-85D8-36CF3A1A3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80E0693-E313-4541-9EF8-63B9B35023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E40A012-93E5-46E0-BF98-08B9C4993C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6B4F8D2-1141-4CEE-BBF3-FF9004D24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D3AB5FB-45F8-4C40-AAF5-2A446BA9C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46722A0-934E-410B-967E-10ACB14F4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5833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325BD0-CE2A-430C-8A39-CF61F07C9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2255FEA-302F-43C4-B79B-0C6B18AE2B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66F8F0A-6BA5-44E7-88C5-AF08404D85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418C806-B0F5-43FF-A5DB-D43347F8F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5AF035-E0D1-4EFD-87A7-B8837E4E4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A830F83-EC13-4759-8D11-DEAC19444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8976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886BB0-6A59-4E8E-9AA3-3A8FBF9CA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6D15106-6A03-463E-A9CA-E124215222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0D8E1B-2085-4EE6-B7A7-B58021A8A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294DF37-5280-4299-9DC2-0EAAD537B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787E3B-B496-4EC4-9F7B-EDD0D5C6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5697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05BDB68-D9B3-44D2-8A46-4E6112A96D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72369CE-0BD0-4ECE-BB28-BA830A2467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BAB1618-613A-4F40-8DC9-7D0DC4A04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5D7767-C836-4241-BDC3-CBF303664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A4CF2D-2896-413D-BA5F-62261FABE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646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8DAA168-2654-4BB2-9AB0-EAE85B8F5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588B6FA-609C-4FE2-96BB-478FA3FB5B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3A36A6-E5D4-474B-9D6D-4161CDBC91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772EBD-6DD3-4DEE-AF2C-6139A1A628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61B3DF-06BE-4968-AC9E-618F77E3F6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9784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7407154-B6A2-42EB-890E-AC89B3A429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EE01B82-90A7-4878-8F8D-31804212C9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0"/>
            <a:ext cx="12191999" cy="1087821"/>
          </a:xfrm>
        </p:spPr>
        <p:txBody>
          <a:bodyPr>
            <a:normAutofit/>
          </a:bodyPr>
          <a:lstStyle/>
          <a:p>
            <a:pPr algn="just"/>
            <a:r>
              <a:rPr lang="ja-JP" altLang="en-US" sz="4000" dirty="0">
                <a:solidFill>
                  <a:schemeClr val="bg1"/>
                </a:solidFill>
              </a:rPr>
              <a:t>　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3D04860-05CF-49A0-A840-DA7970165E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087821"/>
            <a:ext cx="12192000" cy="5770179"/>
          </a:xfrm>
        </p:spPr>
        <p:txBody>
          <a:bodyPr/>
          <a:lstStyle/>
          <a:p>
            <a:pPr algn="l"/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ja-JP" altLang="en-US" dirty="0">
                <a:solidFill>
                  <a:schemeClr val="bg1"/>
                </a:solidFill>
              </a:rPr>
              <a:t>　　概要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br>
              <a:rPr lang="en-US" altLang="ja-JP" dirty="0">
                <a:solidFill>
                  <a:schemeClr val="bg1"/>
                </a:solidFill>
              </a:rPr>
            </a:br>
            <a:r>
              <a:rPr lang="ja-JP" altLang="en-US" dirty="0">
                <a:solidFill>
                  <a:schemeClr val="bg1"/>
                </a:solidFill>
              </a:rPr>
              <a:t>　　➣ジャンル</a:t>
            </a:r>
            <a:r>
              <a:rPr kumimoji="1" lang="ja-JP" altLang="en-US" dirty="0">
                <a:solidFill>
                  <a:schemeClr val="bg1"/>
                </a:solidFill>
              </a:rPr>
              <a:t>：</a:t>
            </a:r>
            <a:r>
              <a:rPr lang="ja-JP" altLang="en-US" dirty="0"/>
              <a:t> </a:t>
            </a:r>
            <a:r>
              <a:rPr lang="ja-JP" altLang="en-US" dirty="0">
                <a:solidFill>
                  <a:schemeClr val="bg1"/>
                </a:solidFill>
              </a:rPr>
              <a:t>対戦型格闘ゲーム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ja-JP" altLang="en-US" dirty="0">
                <a:solidFill>
                  <a:schemeClr val="bg1"/>
                </a:solidFill>
              </a:rPr>
              <a:t>　　➣プラットフォーム：</a:t>
            </a:r>
            <a:r>
              <a:rPr lang="en-US" altLang="ja-JP" dirty="0">
                <a:solidFill>
                  <a:schemeClr val="bg1"/>
                </a:solidFill>
              </a:rPr>
              <a:t>Windows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　　➣開発環境：</a:t>
            </a:r>
            <a:r>
              <a:rPr lang="en-US" altLang="ja-JP" dirty="0">
                <a:solidFill>
                  <a:schemeClr val="bg1"/>
                </a:solidFill>
              </a:rPr>
              <a:t>Visual Studio 2022</a:t>
            </a:r>
            <a:r>
              <a:rPr lang="ja-JP" altLang="en-US" dirty="0">
                <a:solidFill>
                  <a:schemeClr val="bg1"/>
                </a:solidFill>
              </a:rPr>
              <a:t>、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en-US" altLang="ja-JP" dirty="0">
                <a:solidFill>
                  <a:schemeClr val="bg1"/>
                </a:solidFill>
              </a:rPr>
              <a:t>		</a:t>
            </a:r>
            <a:r>
              <a:rPr lang="ja-JP" altLang="en-US" dirty="0">
                <a:solidFill>
                  <a:schemeClr val="bg1"/>
                </a:solidFill>
              </a:rPr>
              <a:t>　　</a:t>
            </a:r>
            <a:r>
              <a:rPr lang="en-US" altLang="ja-JP" dirty="0">
                <a:solidFill>
                  <a:schemeClr val="bg1"/>
                </a:solidFill>
              </a:rPr>
              <a:t>DX</a:t>
            </a:r>
            <a:r>
              <a:rPr lang="ja-JP" altLang="en-US" dirty="0">
                <a:solidFill>
                  <a:schemeClr val="bg1"/>
                </a:solidFill>
              </a:rPr>
              <a:t>ライブラリ（</a:t>
            </a:r>
            <a:r>
              <a:rPr lang="en-US" altLang="ja-JP" dirty="0">
                <a:solidFill>
                  <a:schemeClr val="bg1"/>
                </a:solidFill>
              </a:rPr>
              <a:t>DirectX</a:t>
            </a:r>
            <a:r>
              <a:rPr lang="ja-JP" altLang="en-US" dirty="0">
                <a:solidFill>
                  <a:schemeClr val="bg1"/>
                </a:solidFill>
              </a:rPr>
              <a:t>をより扱いやすくしたライブラリ）、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en-US" altLang="ja-JP" dirty="0">
                <a:solidFill>
                  <a:schemeClr val="bg1"/>
                </a:solidFill>
              </a:rPr>
              <a:t>		</a:t>
            </a:r>
            <a:r>
              <a:rPr lang="ja-JP" altLang="en-US" dirty="0">
                <a:solidFill>
                  <a:schemeClr val="bg1"/>
                </a:solidFill>
              </a:rPr>
              <a:t>　　</a:t>
            </a:r>
            <a:r>
              <a:rPr lang="en-US" altLang="ja-JP" dirty="0">
                <a:solidFill>
                  <a:schemeClr val="bg1"/>
                </a:solidFill>
              </a:rPr>
              <a:t>CoG</a:t>
            </a:r>
            <a:r>
              <a:rPr lang="ja-JP" altLang="en-US" dirty="0">
                <a:solidFill>
                  <a:schemeClr val="bg1"/>
                </a:solidFill>
              </a:rPr>
              <a:t>フレームワーク（</a:t>
            </a:r>
            <a:r>
              <a:rPr lang="en-US" altLang="ja-JP" sz="1800" dirty="0">
                <a:solidFill>
                  <a:schemeClr val="bg1"/>
                </a:solidFill>
              </a:rPr>
              <a:t>DX</a:t>
            </a:r>
            <a:r>
              <a:rPr lang="ja-JP" altLang="en-US" sz="1800" dirty="0">
                <a:solidFill>
                  <a:schemeClr val="bg1"/>
                </a:solidFill>
              </a:rPr>
              <a:t>ライブラリをさらに扱いやすくまとめたフレームワーク</a:t>
            </a:r>
            <a:r>
              <a:rPr lang="ja-JP" altLang="en-US" dirty="0">
                <a:solidFill>
                  <a:schemeClr val="bg1"/>
                </a:solidFill>
              </a:rPr>
              <a:t>）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　　➣使用言語：</a:t>
            </a:r>
            <a:r>
              <a:rPr kumimoji="1" lang="en-US" altLang="ja-JP" dirty="0">
                <a:solidFill>
                  <a:schemeClr val="bg1"/>
                </a:solidFill>
              </a:rPr>
              <a:t>C++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　　➣制作期間：</a:t>
            </a:r>
            <a:r>
              <a:rPr kumimoji="1" lang="en-US" altLang="ja-JP" dirty="0">
                <a:solidFill>
                  <a:schemeClr val="bg1"/>
                </a:solidFill>
              </a:rPr>
              <a:t>2025/4 ~ 2025/11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　　➣制作人数：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人</a:t>
            </a:r>
            <a:endParaRPr kumimoji="1" lang="en-US" altLang="ja-JP" dirty="0">
              <a:solidFill>
                <a:schemeClr val="bg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481ADB3-DD13-4633-AADB-A16369483C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831" y="0"/>
            <a:ext cx="4082372" cy="131466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12797FA8-5603-4FFB-9DFF-899032EEAD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0009" y="80788"/>
            <a:ext cx="6585283" cy="1153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021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C9E160C0-10C0-4409-AE3E-613249A15F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ECA17D6-EC72-4D71-9740-3DAC16133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077" y="839516"/>
            <a:ext cx="7725102" cy="2963918"/>
          </a:xfrm>
        </p:spPr>
        <p:txBody>
          <a:bodyPr anchor="t">
            <a:normAutofit/>
          </a:bodyPr>
          <a:lstStyle/>
          <a:p>
            <a:r>
              <a:rPr kumimoji="1" lang="en-US" altLang="ja-JP" sz="2400" dirty="0">
                <a:solidFill>
                  <a:schemeClr val="bg1"/>
                </a:solidFill>
              </a:rPr>
              <a:t>【</a:t>
            </a:r>
            <a:r>
              <a:rPr kumimoji="1" lang="ja-JP" altLang="en-US" sz="2400" dirty="0">
                <a:solidFill>
                  <a:schemeClr val="bg1"/>
                </a:solidFill>
              </a:rPr>
              <a:t>ゲーム内容</a:t>
            </a:r>
            <a:r>
              <a:rPr kumimoji="1" lang="en-US" altLang="ja-JP" sz="2400" dirty="0">
                <a:solidFill>
                  <a:schemeClr val="bg1"/>
                </a:solidFill>
              </a:rPr>
              <a:t>】</a:t>
            </a:r>
            <a:br>
              <a:rPr kumimoji="1" lang="en-US" altLang="ja-JP" sz="1800" dirty="0">
                <a:solidFill>
                  <a:schemeClr val="bg1"/>
                </a:solidFill>
              </a:rPr>
            </a:br>
            <a:br>
              <a:rPr kumimoji="1" lang="en-US" altLang="ja-JP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プレイヤーはメカキャラクターを操作して</a:t>
            </a:r>
            <a:r>
              <a:rPr lang="en-US" altLang="ja-JP" sz="1800" dirty="0">
                <a:solidFill>
                  <a:schemeClr val="bg1"/>
                </a:solidFill>
              </a:rPr>
              <a:t>1</a:t>
            </a:r>
            <a:r>
              <a:rPr lang="ja-JP" altLang="en-US" sz="1800" dirty="0">
                <a:solidFill>
                  <a:schemeClr val="bg1"/>
                </a:solidFill>
              </a:rPr>
              <a:t>対</a:t>
            </a:r>
            <a:r>
              <a:rPr lang="en-US" altLang="ja-JP" sz="1800" dirty="0">
                <a:solidFill>
                  <a:schemeClr val="bg1"/>
                </a:solidFill>
              </a:rPr>
              <a:t>1</a:t>
            </a:r>
            <a:r>
              <a:rPr lang="ja-JP" altLang="en-US" sz="1800" dirty="0">
                <a:solidFill>
                  <a:schemeClr val="bg1"/>
                </a:solidFill>
              </a:rPr>
              <a:t>で戦う</a:t>
            </a:r>
            <a:r>
              <a:rPr lang="en-US" altLang="ja-JP" sz="1800" dirty="0">
                <a:solidFill>
                  <a:schemeClr val="bg1"/>
                </a:solidFill>
              </a:rPr>
              <a:t>2D</a:t>
            </a:r>
            <a:r>
              <a:rPr lang="ja-JP" altLang="en-US" sz="1800" dirty="0">
                <a:solidFill>
                  <a:schemeClr val="bg1"/>
                </a:solidFill>
              </a:rPr>
              <a:t>格闘ゲームです。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攻撃は「パンチ（弱・中・強）」と「キック（弱・中・強）」の全</a:t>
            </a:r>
            <a:r>
              <a:rPr lang="en-US" altLang="ja-JP" sz="1800" dirty="0">
                <a:solidFill>
                  <a:schemeClr val="bg1"/>
                </a:solidFill>
              </a:rPr>
              <a:t>6</a:t>
            </a:r>
            <a:r>
              <a:rPr lang="ja-JP" altLang="en-US" sz="1800" dirty="0">
                <a:solidFill>
                  <a:schemeClr val="bg1"/>
                </a:solidFill>
              </a:rPr>
              <a:t>種類　　　があり、攻撃の強さによって威力や発生速度が変化します。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相手の</a:t>
            </a:r>
            <a:r>
              <a:rPr lang="en-US" altLang="ja-JP" sz="1800" dirty="0">
                <a:solidFill>
                  <a:schemeClr val="bg1"/>
                </a:solidFill>
              </a:rPr>
              <a:t>HP</a:t>
            </a:r>
            <a:r>
              <a:rPr lang="ja-JP" altLang="en-US" sz="1800" dirty="0">
                <a:solidFill>
                  <a:schemeClr val="bg1"/>
                </a:solidFill>
              </a:rPr>
              <a:t>を</a:t>
            </a:r>
            <a:r>
              <a:rPr lang="en-US" altLang="ja-JP" sz="1800" dirty="0">
                <a:solidFill>
                  <a:schemeClr val="bg1"/>
                </a:solidFill>
              </a:rPr>
              <a:t>0</a:t>
            </a:r>
            <a:r>
              <a:rPr lang="ja-JP" altLang="en-US" sz="1800" dirty="0">
                <a:solidFill>
                  <a:schemeClr val="bg1"/>
                </a:solidFill>
              </a:rPr>
              <a:t>にすると勝利となります。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キャラクターは</a:t>
            </a:r>
            <a:r>
              <a:rPr lang="en-US" altLang="ja-JP" sz="1800" dirty="0">
                <a:solidFill>
                  <a:schemeClr val="bg1"/>
                </a:solidFill>
              </a:rPr>
              <a:t>1</a:t>
            </a:r>
            <a:r>
              <a:rPr lang="ja-JP" altLang="en-US" sz="1800" dirty="0">
                <a:solidFill>
                  <a:schemeClr val="bg1"/>
                </a:solidFill>
              </a:rPr>
              <a:t>種類のみですが、攻撃の組み合わせや距離の取り方で多彩な戦い方ができます。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en-US" altLang="ja-JP" sz="1800" dirty="0">
                <a:solidFill>
                  <a:schemeClr val="bg1"/>
                </a:solidFill>
              </a:rPr>
              <a:t>HP</a:t>
            </a:r>
            <a:r>
              <a:rPr lang="ja-JP" altLang="en-US" sz="1800" dirty="0">
                <a:solidFill>
                  <a:schemeClr val="bg1"/>
                </a:solidFill>
              </a:rPr>
              <a:t>バーは画面上部に固定表示され、操作のテンポや打撃感を重視したバトルを目指しました。</a:t>
            </a:r>
            <a:endParaRPr kumimoji="1" lang="ja-JP" altLang="en-US" sz="1800" dirty="0">
              <a:solidFill>
                <a:schemeClr val="bg1"/>
              </a:solidFill>
            </a:endParaRP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C26F9C28-2BFA-4D04-A864-32FDAF3A1932}"/>
              </a:ext>
            </a:extLst>
          </p:cNvPr>
          <p:cNvSpPr txBox="1">
            <a:spLocks/>
          </p:cNvSpPr>
          <p:nvPr/>
        </p:nvSpPr>
        <p:spPr>
          <a:xfrm>
            <a:off x="331077" y="3968970"/>
            <a:ext cx="7859109" cy="21756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400" dirty="0">
                <a:solidFill>
                  <a:schemeClr val="bg1"/>
                </a:solidFill>
              </a:rPr>
              <a:t>【</a:t>
            </a:r>
            <a:r>
              <a:rPr lang="ja-JP" altLang="en-US" sz="2400" dirty="0">
                <a:solidFill>
                  <a:schemeClr val="bg1"/>
                </a:solidFill>
              </a:rPr>
              <a:t>制作意図</a:t>
            </a:r>
            <a:r>
              <a:rPr lang="en-US" altLang="ja-JP" sz="2400" dirty="0">
                <a:solidFill>
                  <a:schemeClr val="bg1"/>
                </a:solidFill>
              </a:rPr>
              <a:t>】</a:t>
            </a:r>
            <a:br>
              <a:rPr lang="en-US" altLang="ja-JP" sz="1800" dirty="0">
                <a:solidFill>
                  <a:schemeClr val="bg1"/>
                </a:solidFill>
              </a:rPr>
            </a:br>
            <a:br>
              <a:rPr lang="en-US" altLang="ja-JP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格闘ゲームは、当たり判定やフレーム処理など、プログラム面で高い精度が求められるジャンルです。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その複雑なシステムを一から自作することで、ゲームの設計や構造をより深く理解できると考え、制作しました。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en-US" altLang="ja-JP" sz="1800" dirty="0">
                <a:solidFill>
                  <a:schemeClr val="bg1"/>
                </a:solidFill>
              </a:rPr>
              <a:t>3</a:t>
            </a:r>
            <a:r>
              <a:rPr lang="ja-JP" altLang="en-US" sz="1800" dirty="0">
                <a:solidFill>
                  <a:schemeClr val="bg1"/>
                </a:solidFill>
              </a:rPr>
              <a:t>年間の集大成として、</a:t>
            </a:r>
            <a:r>
              <a:rPr lang="en-US" altLang="ja-JP" sz="1800" dirty="0">
                <a:solidFill>
                  <a:schemeClr val="bg1"/>
                </a:solidFill>
              </a:rPr>
              <a:t>C++</a:t>
            </a:r>
            <a:r>
              <a:rPr lang="ja-JP" altLang="en-US" sz="1800" dirty="0">
                <a:solidFill>
                  <a:schemeClr val="bg1"/>
                </a:solidFill>
              </a:rPr>
              <a:t>と</a:t>
            </a:r>
            <a:r>
              <a:rPr lang="en-US" altLang="ja-JP" sz="1800" dirty="0" err="1">
                <a:solidFill>
                  <a:schemeClr val="bg1"/>
                </a:solidFill>
              </a:rPr>
              <a:t>DxLib</a:t>
            </a:r>
            <a:r>
              <a:rPr lang="ja-JP" altLang="en-US" sz="1800" dirty="0">
                <a:solidFill>
                  <a:schemeClr val="bg1"/>
                </a:solidFill>
              </a:rPr>
              <a:t>を用い、エンジンに頼らない実装力を試しました。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B3BFE7F-FFA5-4995-9450-A9FDC8A813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6178" y="960055"/>
            <a:ext cx="3723290" cy="232705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EC12FD31-E6C0-4639-BA9A-438C243F18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0999" y="3968970"/>
            <a:ext cx="3723290" cy="232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922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171048D-035D-411F-99B6-8938408D0A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46F406E-6800-42C8-A3AF-63C86E852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952" y="386238"/>
            <a:ext cx="10515600" cy="1325563"/>
          </a:xfrm>
        </p:spPr>
        <p:txBody>
          <a:bodyPr/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【</a:t>
            </a:r>
            <a:r>
              <a:rPr kumimoji="1" lang="ja-JP" altLang="en-US" dirty="0">
                <a:solidFill>
                  <a:schemeClr val="bg1"/>
                </a:solidFill>
              </a:rPr>
              <a:t>操作方法</a:t>
            </a:r>
            <a:r>
              <a:rPr kumimoji="1"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0EE238F-FB2D-4A9B-BAF0-5E250B245B05}"/>
              </a:ext>
            </a:extLst>
          </p:cNvPr>
          <p:cNvSpPr txBox="1"/>
          <p:nvPr/>
        </p:nvSpPr>
        <p:spPr>
          <a:xfrm>
            <a:off x="830317" y="1711801"/>
            <a:ext cx="320565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キーボードコマンド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・移動　　：</a:t>
            </a:r>
            <a:r>
              <a:rPr lang="en-US" altLang="ja-JP" dirty="0">
                <a:solidFill>
                  <a:schemeClr val="bg1"/>
                </a:solidFill>
              </a:rPr>
              <a:t>A</a:t>
            </a:r>
            <a:r>
              <a:rPr lang="ja-JP" altLang="en-US" dirty="0">
                <a:solidFill>
                  <a:schemeClr val="bg1"/>
                </a:solidFill>
              </a:rPr>
              <a:t>キー</a:t>
            </a:r>
            <a:r>
              <a:rPr lang="en-US" altLang="ja-JP" dirty="0">
                <a:solidFill>
                  <a:schemeClr val="bg1"/>
                </a:solidFill>
              </a:rPr>
              <a:t> &amp; D</a:t>
            </a:r>
            <a:r>
              <a:rPr lang="ja-JP" altLang="en-US" dirty="0">
                <a:solidFill>
                  <a:schemeClr val="bg1"/>
                </a:solidFill>
              </a:rPr>
              <a:t>キー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・パンチ弱：</a:t>
            </a:r>
            <a:r>
              <a:rPr lang="en-US" altLang="ja-JP" dirty="0">
                <a:solidFill>
                  <a:schemeClr val="bg1"/>
                </a:solidFill>
              </a:rPr>
              <a:t>U</a:t>
            </a:r>
            <a:r>
              <a:rPr lang="ja-JP" altLang="en-US" dirty="0">
                <a:solidFill>
                  <a:schemeClr val="bg1"/>
                </a:solidFill>
              </a:rPr>
              <a:t>キー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中：</a:t>
            </a:r>
            <a:r>
              <a:rPr lang="en-US" altLang="ja-JP" dirty="0">
                <a:solidFill>
                  <a:schemeClr val="bg1"/>
                </a:solidFill>
              </a:rPr>
              <a:t>I</a:t>
            </a:r>
            <a:r>
              <a:rPr lang="ja-JP" altLang="en-US" dirty="0">
                <a:solidFill>
                  <a:schemeClr val="bg1"/>
                </a:solidFill>
              </a:rPr>
              <a:t>キー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強：</a:t>
            </a:r>
            <a:r>
              <a:rPr lang="en-US" altLang="ja-JP" dirty="0">
                <a:solidFill>
                  <a:schemeClr val="bg1"/>
                </a:solidFill>
              </a:rPr>
              <a:t>O</a:t>
            </a:r>
            <a:r>
              <a:rPr lang="ja-JP" altLang="en-US" dirty="0">
                <a:solidFill>
                  <a:schemeClr val="bg1"/>
                </a:solidFill>
              </a:rPr>
              <a:t>キー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・キック弱：</a:t>
            </a:r>
            <a:r>
              <a:rPr lang="en-US" altLang="ja-JP" dirty="0">
                <a:solidFill>
                  <a:schemeClr val="bg1"/>
                </a:solidFill>
              </a:rPr>
              <a:t>J</a:t>
            </a:r>
            <a:r>
              <a:rPr lang="ja-JP" altLang="en-US" dirty="0">
                <a:solidFill>
                  <a:schemeClr val="bg1"/>
                </a:solidFill>
              </a:rPr>
              <a:t>キー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中：</a:t>
            </a:r>
            <a:r>
              <a:rPr lang="en-US" altLang="ja-JP" dirty="0">
                <a:solidFill>
                  <a:schemeClr val="bg1"/>
                </a:solidFill>
              </a:rPr>
              <a:t>K</a:t>
            </a:r>
            <a:r>
              <a:rPr lang="ja-JP" altLang="en-US" dirty="0">
                <a:solidFill>
                  <a:schemeClr val="bg1"/>
                </a:solidFill>
              </a:rPr>
              <a:t>キー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強：</a:t>
            </a:r>
            <a:r>
              <a:rPr lang="en-US" altLang="ja-JP" dirty="0">
                <a:solidFill>
                  <a:schemeClr val="bg1"/>
                </a:solidFill>
              </a:rPr>
              <a:t>L</a:t>
            </a:r>
            <a:r>
              <a:rPr lang="ja-JP" altLang="en-US" dirty="0">
                <a:solidFill>
                  <a:schemeClr val="bg1"/>
                </a:solidFill>
              </a:rPr>
              <a:t>キー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・ガード　：</a:t>
            </a:r>
            <a:r>
              <a:rPr lang="en-US" altLang="ja-JP" dirty="0">
                <a:solidFill>
                  <a:schemeClr val="bg1"/>
                </a:solidFill>
              </a:rPr>
              <a:t>H</a:t>
            </a:r>
            <a:r>
              <a:rPr lang="ja-JP" altLang="en-US" dirty="0">
                <a:solidFill>
                  <a:schemeClr val="bg1"/>
                </a:solidFill>
              </a:rPr>
              <a:t>キー</a:t>
            </a:r>
            <a:endParaRPr lang="en-US" altLang="ja-JP" dirty="0">
              <a:solidFill>
                <a:schemeClr val="bg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FA20AF2-CDB0-4DC3-AA69-573B362A4EA4}"/>
              </a:ext>
            </a:extLst>
          </p:cNvPr>
          <p:cNvSpPr txBox="1"/>
          <p:nvPr/>
        </p:nvSpPr>
        <p:spPr>
          <a:xfrm>
            <a:off x="4035972" y="1711801"/>
            <a:ext cx="320565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ゲームパッドコマンド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Xbox</a:t>
            </a:r>
            <a:r>
              <a:rPr lang="ja-JP" altLang="en-US" dirty="0">
                <a:solidFill>
                  <a:schemeClr val="bg1"/>
                </a:solidFill>
              </a:rPr>
              <a:t>専用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・移動　　：左スティック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・パンチ弱：</a:t>
            </a:r>
            <a:r>
              <a:rPr lang="en-US" altLang="ja-JP" dirty="0">
                <a:solidFill>
                  <a:schemeClr val="bg1"/>
                </a:solidFill>
              </a:rPr>
              <a:t>B</a:t>
            </a:r>
            <a:r>
              <a:rPr lang="ja-JP" altLang="en-US" dirty="0">
                <a:solidFill>
                  <a:schemeClr val="bg1"/>
                </a:solidFill>
              </a:rPr>
              <a:t>ボタン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中：</a:t>
            </a:r>
            <a:r>
              <a:rPr lang="en-US" altLang="ja-JP" dirty="0">
                <a:solidFill>
                  <a:schemeClr val="bg1"/>
                </a:solidFill>
              </a:rPr>
              <a:t>L</a:t>
            </a:r>
            <a:r>
              <a:rPr lang="ja-JP" altLang="en-US" dirty="0">
                <a:solidFill>
                  <a:schemeClr val="bg1"/>
                </a:solidFill>
              </a:rPr>
              <a:t>ボタン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強：</a:t>
            </a:r>
            <a:r>
              <a:rPr lang="en-US" altLang="ja-JP" dirty="0">
                <a:solidFill>
                  <a:schemeClr val="bg1"/>
                </a:solidFill>
              </a:rPr>
              <a:t>LT</a:t>
            </a:r>
            <a:r>
              <a:rPr lang="ja-JP" altLang="en-US" dirty="0">
                <a:solidFill>
                  <a:schemeClr val="bg1"/>
                </a:solidFill>
              </a:rPr>
              <a:t>トリガー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・キック弱：</a:t>
            </a:r>
            <a:r>
              <a:rPr lang="en-US" altLang="ja-JP" dirty="0">
                <a:solidFill>
                  <a:schemeClr val="bg1"/>
                </a:solidFill>
              </a:rPr>
              <a:t>A</a:t>
            </a:r>
            <a:r>
              <a:rPr lang="ja-JP" altLang="en-US" dirty="0">
                <a:solidFill>
                  <a:schemeClr val="bg1"/>
                </a:solidFill>
              </a:rPr>
              <a:t>ボタン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中：</a:t>
            </a:r>
            <a:r>
              <a:rPr lang="en-US" altLang="ja-JP" dirty="0">
                <a:solidFill>
                  <a:schemeClr val="bg1"/>
                </a:solidFill>
              </a:rPr>
              <a:t>R</a:t>
            </a:r>
            <a:r>
              <a:rPr lang="ja-JP" altLang="en-US" dirty="0">
                <a:solidFill>
                  <a:schemeClr val="bg1"/>
                </a:solidFill>
              </a:rPr>
              <a:t>ボタン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強：</a:t>
            </a:r>
            <a:r>
              <a:rPr lang="en-US" altLang="ja-JP" dirty="0">
                <a:solidFill>
                  <a:schemeClr val="bg1"/>
                </a:solidFill>
              </a:rPr>
              <a:t>RT</a:t>
            </a:r>
            <a:r>
              <a:rPr lang="ja-JP" altLang="en-US" dirty="0">
                <a:solidFill>
                  <a:schemeClr val="bg1"/>
                </a:solidFill>
              </a:rPr>
              <a:t>トリガー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・ガード　：</a:t>
            </a:r>
            <a:r>
              <a:rPr lang="en-US" altLang="ja-JP" dirty="0">
                <a:solidFill>
                  <a:schemeClr val="bg1"/>
                </a:solidFill>
              </a:rPr>
              <a:t>X</a:t>
            </a:r>
            <a:r>
              <a:rPr lang="ja-JP" altLang="en-US" dirty="0">
                <a:solidFill>
                  <a:schemeClr val="bg1"/>
                </a:solidFill>
              </a:rPr>
              <a:t>ボタン</a:t>
            </a:r>
            <a:endParaRPr lang="en-US" altLang="ja-JP" dirty="0">
              <a:solidFill>
                <a:schemeClr val="bg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39E2AC6-25FF-4C71-A9FD-32E00FA4E5AF}"/>
              </a:ext>
            </a:extLst>
          </p:cNvPr>
          <p:cNvSpPr txBox="1"/>
          <p:nvPr/>
        </p:nvSpPr>
        <p:spPr>
          <a:xfrm>
            <a:off x="7241627" y="1769608"/>
            <a:ext cx="45667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トレーニング専用コマンド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・オプション：</a:t>
            </a:r>
            <a:r>
              <a:rPr lang="en-US" altLang="ja-JP" dirty="0">
                <a:solidFill>
                  <a:schemeClr val="bg1"/>
                </a:solidFill>
              </a:rPr>
              <a:t>Tab</a:t>
            </a:r>
            <a:r>
              <a:rPr lang="ja-JP" altLang="en-US" dirty="0">
                <a:solidFill>
                  <a:schemeClr val="bg1"/>
                </a:solidFill>
              </a:rPr>
              <a:t>キー </a:t>
            </a:r>
            <a:r>
              <a:rPr lang="en-US" altLang="ja-JP" dirty="0">
                <a:solidFill>
                  <a:schemeClr val="bg1"/>
                </a:solidFill>
              </a:rPr>
              <a:t>or </a:t>
            </a:r>
            <a:r>
              <a:rPr lang="ja-JP" altLang="en-US" sz="1800" dirty="0">
                <a:solidFill>
                  <a:schemeClr val="bg1"/>
                </a:solidFill>
                <a:ea typeface="ＭＳ ゴシック" panose="020B0609070205080204" pitchFamily="49" charset="-128"/>
              </a:rPr>
              <a:t>≡</a:t>
            </a:r>
            <a:r>
              <a:rPr lang="ja-JP" altLang="en-US" sz="1800" dirty="0">
                <a:solidFill>
                  <a:schemeClr val="bg1"/>
                </a:solidFill>
                <a:latin typeface="+mn-ea"/>
              </a:rPr>
              <a:t>ボタン</a:t>
            </a:r>
            <a:endParaRPr lang="en-US" altLang="ja-JP" sz="1800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・モード切替：</a:t>
            </a:r>
            <a:r>
              <a:rPr lang="en-US" altLang="ja-JP" dirty="0">
                <a:solidFill>
                  <a:schemeClr val="bg1"/>
                </a:solidFill>
                <a:latin typeface="+mn-ea"/>
              </a:rPr>
              <a:t>Q</a:t>
            </a:r>
            <a:r>
              <a:rPr lang="ja-JP" altLang="en-US" dirty="0">
                <a:solidFill>
                  <a:schemeClr val="bg1"/>
                </a:solidFill>
                <a:latin typeface="+mn-ea"/>
              </a:rPr>
              <a:t>キー </a:t>
            </a:r>
            <a:r>
              <a:rPr lang="en-US" altLang="ja-JP" dirty="0">
                <a:solidFill>
                  <a:schemeClr val="bg1"/>
                </a:solidFill>
                <a:latin typeface="+mn-ea"/>
              </a:rPr>
              <a:t>or Y</a:t>
            </a:r>
            <a:r>
              <a:rPr lang="ja-JP" altLang="en-US" dirty="0">
                <a:solidFill>
                  <a:schemeClr val="bg1"/>
                </a:solidFill>
                <a:latin typeface="+mn-ea"/>
              </a:rPr>
              <a:t>ボタン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B4B2347-92CB-42D1-80C5-9B9B8D8DF1D2}"/>
              </a:ext>
            </a:extLst>
          </p:cNvPr>
          <p:cNvSpPr txBox="1"/>
          <p:nvPr/>
        </p:nvSpPr>
        <p:spPr>
          <a:xfrm>
            <a:off x="7241626" y="3142962"/>
            <a:ext cx="4566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選択コマンド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</a:t>
            </a:r>
            <a:r>
              <a:rPr lang="en-US" altLang="ja-JP" dirty="0">
                <a:solidFill>
                  <a:schemeClr val="bg1"/>
                </a:solidFill>
              </a:rPr>
              <a:t>UI</a:t>
            </a:r>
            <a:r>
              <a:rPr lang="ja-JP" altLang="en-US" dirty="0">
                <a:solidFill>
                  <a:schemeClr val="bg1"/>
                </a:solidFill>
              </a:rPr>
              <a:t>の移動</a:t>
            </a:r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：</a:t>
            </a:r>
            <a:r>
              <a:rPr lang="en-US" altLang="ja-JP" dirty="0">
                <a:solidFill>
                  <a:schemeClr val="bg1"/>
                </a:solidFill>
              </a:rPr>
              <a:t>[</a:t>
            </a:r>
            <a:r>
              <a:rPr lang="ja-JP" altLang="en-US" dirty="0">
                <a:solidFill>
                  <a:schemeClr val="bg1"/>
                </a:solidFill>
              </a:rPr>
              <a:t>↑</a:t>
            </a:r>
            <a:r>
              <a:rPr lang="en-US" altLang="ja-JP" dirty="0">
                <a:solidFill>
                  <a:schemeClr val="bg1"/>
                </a:solidFill>
              </a:rPr>
              <a:t>] [</a:t>
            </a:r>
            <a:r>
              <a:rPr lang="ja-JP" altLang="en-US" dirty="0">
                <a:solidFill>
                  <a:schemeClr val="bg1"/>
                </a:solidFill>
              </a:rPr>
              <a:t>↓</a:t>
            </a:r>
            <a:r>
              <a:rPr lang="en-US" altLang="ja-JP" dirty="0">
                <a:solidFill>
                  <a:schemeClr val="bg1"/>
                </a:solidFill>
              </a:rPr>
              <a:t>] [</a:t>
            </a:r>
            <a:r>
              <a:rPr lang="ja-JP" altLang="en-US" dirty="0">
                <a:solidFill>
                  <a:schemeClr val="bg1"/>
                </a:solidFill>
              </a:rPr>
              <a:t>←</a:t>
            </a:r>
            <a:r>
              <a:rPr lang="en-US" altLang="ja-JP" dirty="0">
                <a:solidFill>
                  <a:schemeClr val="bg1"/>
                </a:solidFill>
              </a:rPr>
              <a:t>][</a:t>
            </a:r>
            <a:r>
              <a:rPr lang="ja-JP" altLang="en-US" dirty="0">
                <a:solidFill>
                  <a:schemeClr val="bg1"/>
                </a:solidFill>
              </a:rPr>
              <a:t>→</a:t>
            </a:r>
            <a:r>
              <a:rPr lang="en-US" altLang="ja-JP" dirty="0">
                <a:solidFill>
                  <a:schemeClr val="bg1"/>
                </a:solidFill>
              </a:rPr>
              <a:t>]</a:t>
            </a:r>
            <a:endParaRPr lang="en-US" altLang="ja-JP" sz="1800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・決定＆解除</a:t>
            </a:r>
            <a:r>
              <a:rPr lang="en-US" altLang="ja-JP" dirty="0">
                <a:solidFill>
                  <a:schemeClr val="bg1"/>
                </a:solidFill>
                <a:latin typeface="+mn-ea"/>
              </a:rPr>
              <a:t>	</a:t>
            </a:r>
            <a:r>
              <a:rPr lang="ja-JP" altLang="en-US" dirty="0">
                <a:solidFill>
                  <a:schemeClr val="bg1"/>
                </a:solidFill>
                <a:latin typeface="+mn-ea"/>
              </a:rPr>
              <a:t>：</a:t>
            </a:r>
            <a:r>
              <a:rPr lang="en-US" altLang="ja-JP" dirty="0">
                <a:solidFill>
                  <a:schemeClr val="bg1"/>
                </a:solidFill>
                <a:latin typeface="+mn-ea"/>
              </a:rPr>
              <a:t>Enter</a:t>
            </a:r>
            <a:r>
              <a:rPr lang="ja-JP" altLang="en-US" dirty="0">
                <a:solidFill>
                  <a:schemeClr val="bg1"/>
                </a:solidFill>
                <a:latin typeface="+mn-ea"/>
              </a:rPr>
              <a:t>キー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・タイトルに戻る：</a:t>
            </a:r>
            <a:r>
              <a:rPr lang="en-US" altLang="ja-JP" dirty="0">
                <a:solidFill>
                  <a:schemeClr val="bg1"/>
                </a:solidFill>
                <a:latin typeface="+mn-ea"/>
              </a:rPr>
              <a:t>Tab</a:t>
            </a:r>
            <a:r>
              <a:rPr lang="ja-JP" altLang="en-US" dirty="0">
                <a:solidFill>
                  <a:schemeClr val="bg1"/>
                </a:solidFill>
                <a:latin typeface="+mn-ea"/>
              </a:rPr>
              <a:t>キー</a:t>
            </a:r>
            <a:br>
              <a:rPr lang="en-US" altLang="ja-JP" dirty="0">
                <a:solidFill>
                  <a:schemeClr val="bg1"/>
                </a:solidFill>
                <a:latin typeface="+mn-ea"/>
              </a:rPr>
            </a:br>
            <a:r>
              <a:rPr lang="ja-JP" altLang="en-US" dirty="0">
                <a:solidFill>
                  <a:schemeClr val="bg1"/>
                </a:solidFill>
                <a:latin typeface="+mn-ea"/>
              </a:rPr>
              <a:t>・ゲーム終了</a:t>
            </a:r>
            <a:r>
              <a:rPr lang="en-US" altLang="ja-JP" dirty="0">
                <a:solidFill>
                  <a:schemeClr val="bg1"/>
                </a:solidFill>
                <a:latin typeface="+mn-ea"/>
              </a:rPr>
              <a:t>	</a:t>
            </a:r>
            <a:r>
              <a:rPr lang="ja-JP" altLang="en-US" dirty="0">
                <a:solidFill>
                  <a:schemeClr val="bg1"/>
                </a:solidFill>
                <a:latin typeface="+mn-ea"/>
              </a:rPr>
              <a:t>：</a:t>
            </a:r>
            <a:r>
              <a:rPr lang="en-US" altLang="ja-JP" dirty="0">
                <a:solidFill>
                  <a:schemeClr val="bg1"/>
                </a:solidFill>
                <a:latin typeface="+mn-ea"/>
              </a:rPr>
              <a:t>Esc</a:t>
            </a:r>
            <a:r>
              <a:rPr lang="ja-JP" altLang="en-US" dirty="0">
                <a:solidFill>
                  <a:schemeClr val="bg1"/>
                </a:solidFill>
                <a:latin typeface="+mn-ea"/>
              </a:rPr>
              <a:t>キー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09840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2A4561-DB48-47B2-B032-57840D7B8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場面数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A6A0A0F-E525-4468-BCF4-4526F064B195}"/>
              </a:ext>
            </a:extLst>
          </p:cNvPr>
          <p:cNvSpPr txBox="1"/>
          <p:nvPr/>
        </p:nvSpPr>
        <p:spPr>
          <a:xfrm>
            <a:off x="838200" y="1464767"/>
            <a:ext cx="10287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・タイトル画面</a:t>
            </a:r>
            <a:endParaRPr kumimoji="1" lang="en-US" altLang="ja-JP" dirty="0"/>
          </a:p>
          <a:p>
            <a:r>
              <a:rPr lang="ja-JP" altLang="en-US" dirty="0"/>
              <a:t>・セレクト画面</a:t>
            </a:r>
            <a:endParaRPr lang="en-US" altLang="ja-JP" dirty="0"/>
          </a:p>
          <a:p>
            <a:r>
              <a:rPr kumimoji="1" lang="ja-JP" altLang="en-US" dirty="0"/>
              <a:t>・バトル画面</a:t>
            </a:r>
            <a:endParaRPr kumimoji="1" lang="en-US" altLang="ja-JP" dirty="0"/>
          </a:p>
          <a:p>
            <a:r>
              <a:rPr lang="ja-JP" altLang="en-US" dirty="0"/>
              <a:t>・リトライ画面</a:t>
            </a:r>
            <a:endParaRPr kumimoji="1" lang="en-US" altLang="ja-JP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87E2790-7571-4C91-90AE-F76380DB691A}"/>
              </a:ext>
            </a:extLst>
          </p:cNvPr>
          <p:cNvSpPr/>
          <p:nvPr/>
        </p:nvSpPr>
        <p:spPr>
          <a:xfrm>
            <a:off x="542925" y="3455432"/>
            <a:ext cx="2047875" cy="14859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タイトル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B721A00-4306-4536-A723-4611471300DA}"/>
              </a:ext>
            </a:extLst>
          </p:cNvPr>
          <p:cNvSpPr/>
          <p:nvPr/>
        </p:nvSpPr>
        <p:spPr>
          <a:xfrm>
            <a:off x="3857625" y="3455432"/>
            <a:ext cx="2047875" cy="14859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rgbClr val="FF0000"/>
                </a:solidFill>
              </a:rPr>
              <a:t>セレクト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D87DAA3-0A09-470B-AA3F-28D3F41A541D}"/>
              </a:ext>
            </a:extLst>
          </p:cNvPr>
          <p:cNvSpPr/>
          <p:nvPr/>
        </p:nvSpPr>
        <p:spPr>
          <a:xfrm>
            <a:off x="7048500" y="3449955"/>
            <a:ext cx="2047875" cy="14859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ゲーム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A6ACA4EC-1980-48B3-8E13-D3C9EF56470F}"/>
              </a:ext>
            </a:extLst>
          </p:cNvPr>
          <p:cNvCxnSpPr/>
          <p:nvPr/>
        </p:nvCxnSpPr>
        <p:spPr>
          <a:xfrm>
            <a:off x="2857500" y="4160282"/>
            <a:ext cx="8191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C78A32D-6778-4E70-8FAD-CF17D8DBE1E8}"/>
              </a:ext>
            </a:extLst>
          </p:cNvPr>
          <p:cNvCxnSpPr/>
          <p:nvPr/>
        </p:nvCxnSpPr>
        <p:spPr>
          <a:xfrm>
            <a:off x="6096000" y="4158139"/>
            <a:ext cx="8191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DD9D09C-A963-4B94-A378-49895CC8DACB}"/>
              </a:ext>
            </a:extLst>
          </p:cNvPr>
          <p:cNvSpPr/>
          <p:nvPr/>
        </p:nvSpPr>
        <p:spPr>
          <a:xfrm>
            <a:off x="10101262" y="3449955"/>
            <a:ext cx="2047875" cy="14859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rgbClr val="FF0000"/>
                </a:solidFill>
              </a:rPr>
              <a:t>リトライ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574DBAF3-4E11-470E-875A-DADDF6CD66CD}"/>
              </a:ext>
            </a:extLst>
          </p:cNvPr>
          <p:cNvCxnSpPr/>
          <p:nvPr/>
        </p:nvCxnSpPr>
        <p:spPr>
          <a:xfrm>
            <a:off x="9195381" y="4171474"/>
            <a:ext cx="8191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4393336F-6FF2-4EBA-A077-02480BC54268}"/>
              </a:ext>
            </a:extLst>
          </p:cNvPr>
          <p:cNvCxnSpPr/>
          <p:nvPr/>
        </p:nvCxnSpPr>
        <p:spPr>
          <a:xfrm>
            <a:off x="10915650" y="5372100"/>
            <a:ext cx="0" cy="6477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F6039C77-0107-4239-8A90-3982204245BC}"/>
              </a:ext>
            </a:extLst>
          </p:cNvPr>
          <p:cNvCxnSpPr>
            <a:cxnSpLocks/>
          </p:cNvCxnSpPr>
          <p:nvPr/>
        </p:nvCxnSpPr>
        <p:spPr>
          <a:xfrm flipH="1">
            <a:off x="1566862" y="6019800"/>
            <a:ext cx="934878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B52EE8DC-ABCE-49E4-892F-1C5B93E67581}"/>
              </a:ext>
            </a:extLst>
          </p:cNvPr>
          <p:cNvCxnSpPr/>
          <p:nvPr/>
        </p:nvCxnSpPr>
        <p:spPr>
          <a:xfrm flipV="1">
            <a:off x="4981575" y="5210175"/>
            <a:ext cx="0" cy="8096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27D0FD9B-EB81-4737-AED7-AAC6D864A49E}"/>
              </a:ext>
            </a:extLst>
          </p:cNvPr>
          <p:cNvCxnSpPr/>
          <p:nvPr/>
        </p:nvCxnSpPr>
        <p:spPr>
          <a:xfrm flipH="1">
            <a:off x="9324975" y="3838575"/>
            <a:ext cx="533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B9B09D31-4A94-49C2-AA97-628391EF94D9}"/>
              </a:ext>
            </a:extLst>
          </p:cNvPr>
          <p:cNvCxnSpPr/>
          <p:nvPr/>
        </p:nvCxnSpPr>
        <p:spPr>
          <a:xfrm flipH="1">
            <a:off x="2857500" y="3781425"/>
            <a:ext cx="695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3585EAA1-5079-473A-A5BB-38B726DFCC42}"/>
              </a:ext>
            </a:extLst>
          </p:cNvPr>
          <p:cNvCxnSpPr/>
          <p:nvPr/>
        </p:nvCxnSpPr>
        <p:spPr>
          <a:xfrm flipV="1">
            <a:off x="1566862" y="5210175"/>
            <a:ext cx="0" cy="8096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3219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EEA01F-1AF2-4E06-9A62-2ADD4CE7C4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19250" y="644526"/>
            <a:ext cx="9144000" cy="2133599"/>
          </a:xfrm>
        </p:spPr>
        <p:txBody>
          <a:bodyPr>
            <a:normAutofit/>
          </a:bodyPr>
          <a:lstStyle/>
          <a:p>
            <a:r>
              <a:rPr kumimoji="1" lang="ja-JP" altLang="en-US" sz="10000" dirty="0"/>
              <a:t>タイトル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C68191-8585-438A-ACCB-E11454B3AA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6"/>
            <a:ext cx="9144000" cy="1655762"/>
          </a:xfrm>
        </p:spPr>
        <p:txBody>
          <a:bodyPr/>
          <a:lstStyle/>
          <a:p>
            <a:r>
              <a:rPr kumimoji="1" lang="ja-JP" altLang="en-US" dirty="0"/>
              <a:t>「</a:t>
            </a:r>
            <a:r>
              <a:rPr kumimoji="1" lang="en-US" altLang="ja-JP" dirty="0"/>
              <a:t>Enter</a:t>
            </a:r>
            <a:r>
              <a:rPr kumimoji="1" lang="ja-JP" altLang="en-US" dirty="0"/>
              <a:t>」か</a:t>
            </a:r>
            <a:r>
              <a:rPr kumimoji="1" lang="en-US" altLang="ja-JP" dirty="0"/>
              <a:t>B</a:t>
            </a:r>
            <a:r>
              <a:rPr kumimoji="1" lang="ja-JP" altLang="en-US" dirty="0"/>
              <a:t>ボタンでスタート</a:t>
            </a:r>
          </a:p>
        </p:txBody>
      </p:sp>
    </p:spTree>
    <p:extLst>
      <p:ext uri="{BB962C8B-B14F-4D97-AF65-F5344CB8AC3E}">
        <p14:creationId xmlns:p14="http://schemas.microsoft.com/office/powerpoint/2010/main" val="2100573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A556C0-5DD8-49F1-BCFD-CB90F746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セレクト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FE672AB-C24E-4F83-9336-382D1738ECDA}"/>
              </a:ext>
            </a:extLst>
          </p:cNvPr>
          <p:cNvSpPr/>
          <p:nvPr/>
        </p:nvSpPr>
        <p:spPr>
          <a:xfrm>
            <a:off x="2647950" y="2695575"/>
            <a:ext cx="1352550" cy="1628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1E21641-AF92-4BC6-B2C3-D2AAF19B9DF9}"/>
              </a:ext>
            </a:extLst>
          </p:cNvPr>
          <p:cNvSpPr/>
          <p:nvPr/>
        </p:nvSpPr>
        <p:spPr>
          <a:xfrm>
            <a:off x="5305425" y="2695575"/>
            <a:ext cx="1352550" cy="1628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8101C9B-25A8-4833-AEB1-45076640F767}"/>
              </a:ext>
            </a:extLst>
          </p:cNvPr>
          <p:cNvSpPr/>
          <p:nvPr/>
        </p:nvSpPr>
        <p:spPr>
          <a:xfrm>
            <a:off x="7962900" y="2695575"/>
            <a:ext cx="1352550" cy="1628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681022-87E9-491C-AA8D-F9A88833EA3D}"/>
              </a:ext>
            </a:extLst>
          </p:cNvPr>
          <p:cNvSpPr/>
          <p:nvPr/>
        </p:nvSpPr>
        <p:spPr>
          <a:xfrm>
            <a:off x="3952875" y="4648200"/>
            <a:ext cx="1352550" cy="1628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1C2B7ED-3ED5-4F2C-9B40-10ACF7FA21BF}"/>
              </a:ext>
            </a:extLst>
          </p:cNvPr>
          <p:cNvSpPr/>
          <p:nvPr/>
        </p:nvSpPr>
        <p:spPr>
          <a:xfrm>
            <a:off x="6610350" y="4648200"/>
            <a:ext cx="1352550" cy="1628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</p:spTree>
    <p:extLst>
      <p:ext uri="{BB962C8B-B14F-4D97-AF65-F5344CB8AC3E}">
        <p14:creationId xmlns:p14="http://schemas.microsoft.com/office/powerpoint/2010/main" val="3464825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37FBEC-4F81-4EF0-A5ED-18F8031A9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" y="99218"/>
            <a:ext cx="10515600" cy="1325563"/>
          </a:xfrm>
        </p:spPr>
        <p:txBody>
          <a:bodyPr/>
          <a:lstStyle/>
          <a:p>
            <a:r>
              <a:rPr kumimoji="1" lang="ja-JP" altLang="en-US" dirty="0"/>
              <a:t>ゲーム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53D63FD-E35C-4B5D-AB3D-EF0692161EC6}"/>
              </a:ext>
            </a:extLst>
          </p:cNvPr>
          <p:cNvSpPr/>
          <p:nvPr/>
        </p:nvSpPr>
        <p:spPr>
          <a:xfrm>
            <a:off x="3057525" y="2466975"/>
            <a:ext cx="2190750" cy="362902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28347EA-C43E-4578-84C7-23BF7E5D5099}"/>
              </a:ext>
            </a:extLst>
          </p:cNvPr>
          <p:cNvSpPr/>
          <p:nvPr/>
        </p:nvSpPr>
        <p:spPr>
          <a:xfrm>
            <a:off x="7496175" y="2466975"/>
            <a:ext cx="2190750" cy="362902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キャラ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ABF6A07-DE58-4CC5-AC3B-7F354BDCC33C}"/>
              </a:ext>
            </a:extLst>
          </p:cNvPr>
          <p:cNvSpPr/>
          <p:nvPr/>
        </p:nvSpPr>
        <p:spPr>
          <a:xfrm>
            <a:off x="1304925" y="1200150"/>
            <a:ext cx="3943350" cy="53340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HP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A01EA96-CBEF-4F4C-8F5E-A136E6E4F4F4}"/>
              </a:ext>
            </a:extLst>
          </p:cNvPr>
          <p:cNvSpPr/>
          <p:nvPr/>
        </p:nvSpPr>
        <p:spPr>
          <a:xfrm>
            <a:off x="7496175" y="1200150"/>
            <a:ext cx="3943350" cy="53340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HP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2406FAC-CD78-4DF3-94A2-1814B260B7AF}"/>
              </a:ext>
            </a:extLst>
          </p:cNvPr>
          <p:cNvSpPr/>
          <p:nvPr/>
        </p:nvSpPr>
        <p:spPr>
          <a:xfrm>
            <a:off x="350192" y="2552700"/>
            <a:ext cx="952500" cy="3086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2821839-6557-456C-8CF1-D4D4053DF904}"/>
              </a:ext>
            </a:extLst>
          </p:cNvPr>
          <p:cNvSpPr txBox="1"/>
          <p:nvPr/>
        </p:nvSpPr>
        <p:spPr>
          <a:xfrm>
            <a:off x="595609" y="3333750"/>
            <a:ext cx="461665" cy="13335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ja-JP" altLang="en-US" dirty="0"/>
              <a:t>コマンド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1F64DE1-E8C7-4647-BE6C-2AC178C7824B}"/>
              </a:ext>
            </a:extLst>
          </p:cNvPr>
          <p:cNvSpPr/>
          <p:nvPr/>
        </p:nvSpPr>
        <p:spPr>
          <a:xfrm>
            <a:off x="10808642" y="2552700"/>
            <a:ext cx="952500" cy="3086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コマンド</a:t>
            </a:r>
          </a:p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67D1BD1-6E30-4B1E-A95B-FE13F697B2FE}"/>
              </a:ext>
            </a:extLst>
          </p:cNvPr>
          <p:cNvSpPr txBox="1"/>
          <p:nvPr/>
        </p:nvSpPr>
        <p:spPr>
          <a:xfrm>
            <a:off x="11054059" y="3333750"/>
            <a:ext cx="461665" cy="124777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ja-JP" altLang="en-US" dirty="0"/>
              <a:t>コマンド</a:t>
            </a:r>
          </a:p>
        </p:txBody>
      </p:sp>
    </p:spTree>
    <p:extLst>
      <p:ext uri="{BB962C8B-B14F-4D97-AF65-F5344CB8AC3E}">
        <p14:creationId xmlns:p14="http://schemas.microsoft.com/office/powerpoint/2010/main" val="34602344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642868-DB41-4B4D-BD90-A198EA1FB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リトライ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5F2AF6D-07C9-4467-8E0F-2AFA31BC2151}"/>
              </a:ext>
            </a:extLst>
          </p:cNvPr>
          <p:cNvSpPr/>
          <p:nvPr/>
        </p:nvSpPr>
        <p:spPr>
          <a:xfrm>
            <a:off x="4567234" y="5214937"/>
            <a:ext cx="3057525" cy="76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タイトルへ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1FEF113-E625-4C2C-9741-3F8F1803F934}"/>
              </a:ext>
            </a:extLst>
          </p:cNvPr>
          <p:cNvSpPr/>
          <p:nvPr/>
        </p:nvSpPr>
        <p:spPr>
          <a:xfrm>
            <a:off x="4567234" y="3745706"/>
            <a:ext cx="3057525" cy="76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セレクト</a:t>
            </a:r>
            <a:r>
              <a:rPr kumimoji="1" lang="ja-JP" altLang="en-US" dirty="0"/>
              <a:t>へ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17875AE-1639-4E08-8B8D-36D118830F09}"/>
              </a:ext>
            </a:extLst>
          </p:cNvPr>
          <p:cNvSpPr/>
          <p:nvPr/>
        </p:nvSpPr>
        <p:spPr>
          <a:xfrm>
            <a:off x="4567234" y="2276475"/>
            <a:ext cx="3057525" cy="76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再挑戦</a:t>
            </a:r>
          </a:p>
        </p:txBody>
      </p:sp>
    </p:spTree>
    <p:extLst>
      <p:ext uri="{BB962C8B-B14F-4D97-AF65-F5344CB8AC3E}">
        <p14:creationId xmlns:p14="http://schemas.microsoft.com/office/powerpoint/2010/main" val="2166365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492</Words>
  <Application>Microsoft Office PowerPoint</Application>
  <PresentationFormat>ワイド画面</PresentationFormat>
  <Paragraphs>73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　</vt:lpstr>
      <vt:lpstr>【ゲーム内容】  プレイヤーはメカキャラクターを操作して1対1で戦う2D格闘ゲームです。 攻撃は「パンチ（弱・中・強）」と「キック（弱・中・強）」の全6種類　　　があり、攻撃の強さによって威力や発生速度が変化します。 相手のHPを0にすると勝利となります。 キャラクターは1種類のみですが、攻撃の組み合わせや距離の取り方で多彩な戦い方ができます。 HPバーは画面上部に固定表示され、操作のテンポや打撃感を重視したバトルを目指しました。</vt:lpstr>
      <vt:lpstr>【操作方法】</vt:lpstr>
      <vt:lpstr>場面数</vt:lpstr>
      <vt:lpstr>タイトル</vt:lpstr>
      <vt:lpstr>セレクト</vt:lpstr>
      <vt:lpstr>ゲーム</vt:lpstr>
      <vt:lpstr>リトライ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仕様書</dc:title>
  <dc:creator>student</dc:creator>
  <cp:lastModifiedBy>student</cp:lastModifiedBy>
  <cp:revision>17</cp:revision>
  <dcterms:created xsi:type="dcterms:W3CDTF">2025-02-14T05:54:00Z</dcterms:created>
  <dcterms:modified xsi:type="dcterms:W3CDTF">2025-12-18T07:30:18Z</dcterms:modified>
</cp:coreProperties>
</file>